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0"/>
  </p:notesMasterIdLst>
  <p:sldIdLst>
    <p:sldId id="280" r:id="rId5"/>
    <p:sldId id="281" r:id="rId6"/>
    <p:sldId id="282" r:id="rId7"/>
    <p:sldId id="283" r:id="rId8"/>
    <p:sldId id="284" r:id="rId9"/>
    <p:sldId id="286" r:id="rId10"/>
    <p:sldId id="287" r:id="rId11"/>
    <p:sldId id="288" r:id="rId12"/>
    <p:sldId id="289" r:id="rId13"/>
    <p:sldId id="290" r:id="rId14"/>
    <p:sldId id="291" r:id="rId15"/>
    <p:sldId id="304" r:id="rId16"/>
    <p:sldId id="305" r:id="rId17"/>
    <p:sldId id="307" r:id="rId18"/>
    <p:sldId id="298" r:id="rId19"/>
    <p:sldId id="306" r:id="rId20"/>
    <p:sldId id="300" r:id="rId21"/>
    <p:sldId id="308" r:id="rId22"/>
    <p:sldId id="295" r:id="rId23"/>
    <p:sldId id="296" r:id="rId24"/>
    <p:sldId id="297" r:id="rId25"/>
    <p:sldId id="299" r:id="rId26"/>
    <p:sldId id="301" r:id="rId27"/>
    <p:sldId id="302" r:id="rId28"/>
    <p:sldId id="30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0" d="100"/>
          <a:sy n="70" d="100"/>
        </p:scale>
        <p:origin x="53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1/30/2026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1/30/2026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421BF-8AC8-745F-DE28-A1C80F3FAD80}"/>
              </a:ext>
            </a:extLst>
          </p:cNvPr>
          <p:cNvSpPr>
            <a:spLocks noGrp="1"/>
          </p:cNvSpPr>
          <p:nvPr>
            <p:ph type="title"/>
          </p:nvPr>
        </p:nvSpPr>
        <p:spPr>
          <a:xfrm>
            <a:off x="2198017" y="67093"/>
            <a:ext cx="8823734" cy="2263151"/>
          </a:xfrm>
        </p:spPr>
        <p:txBody>
          <a:bodyPr>
            <a:noAutofit/>
          </a:bodyPr>
          <a:lstStyle/>
          <a:p>
            <a:pPr marL="6350" indent="-6350">
              <a:lnSpc>
                <a:spcPct val="115000"/>
              </a:lnSpc>
              <a:spcAft>
                <a:spcPts val="825"/>
              </a:spcAft>
            </a:pPr>
            <a:r>
              <a:rPr lang="en-US" sz="2400" b="1" dirty="0">
                <a:solidFill>
                  <a:schemeClr val="tx1"/>
                </a:solidFill>
                <a:effectLst/>
                <a:latin typeface="Times New Roman"/>
                <a:ea typeface="Times New Roman" panose="02020603050405020304" pitchFamily="18" charset="0"/>
              </a:rPr>
              <a:t>SRI VENKATAESHWARA COLLEGE OF ENGINEERING AND TECHNOLOGY (AUTONOMOUS)</a:t>
            </a:r>
            <a:br>
              <a:rPr lang="en-IN" sz="2400" dirty="0">
                <a:solidFill>
                  <a:schemeClr val="tx1"/>
                </a:solidFill>
                <a:effectLst/>
                <a:latin typeface="Times New Roman" panose="02020603050405020304" pitchFamily="18" charset="0"/>
                <a:ea typeface="Times New Roman" panose="02020603050405020304" pitchFamily="18" charset="0"/>
              </a:rPr>
            </a:br>
            <a:r>
              <a:rPr lang="en-US" sz="2400" b="1" dirty="0">
                <a:solidFill>
                  <a:schemeClr val="tx1"/>
                </a:solidFill>
                <a:effectLst/>
                <a:latin typeface="Times New Roman"/>
                <a:ea typeface="Times New Roman" panose="02020603050405020304" pitchFamily="18" charset="0"/>
              </a:rPr>
              <a:t>R.V.S Nagar, Chittoor – 517 127. (A.P)</a:t>
            </a:r>
            <a:br>
              <a:rPr lang="en-US" sz="2400" b="1" dirty="0">
                <a:solidFill>
                  <a:schemeClr val="tx1"/>
                </a:solidFill>
                <a:effectLst/>
                <a:latin typeface="Times New Roman" panose="02020603050405020304" pitchFamily="18" charset="0"/>
                <a:ea typeface="Times New Roman" panose="02020603050405020304" pitchFamily="18" charset="0"/>
              </a:rPr>
            </a:br>
            <a:r>
              <a:rPr lang="en-US" sz="2400" b="1" dirty="0">
                <a:solidFill>
                  <a:schemeClr val="tx1"/>
                </a:solidFill>
                <a:effectLst/>
                <a:latin typeface="Times New Roman"/>
                <a:ea typeface="Times New Roman" panose="02020603050405020304" pitchFamily="18" charset="0"/>
              </a:rPr>
              <a:t>Department of CSE(AI&amp;ML)</a:t>
            </a:r>
            <a:endParaRPr lang="en-IN" sz="2400" dirty="0">
              <a:ln>
                <a:solidFill>
                  <a:prstClr val="black">
                    <a:lumMod val="75000"/>
                    <a:lumOff val="25000"/>
                    <a:alpha val="10000"/>
                  </a:prstClr>
                </a:solidFill>
              </a:ln>
              <a:solidFill>
                <a:schemeClr val="tx1"/>
              </a:solidFill>
              <a:effectLst>
                <a:outerShdw blurRad="9525" dist="25400" dir="14640000" algn="tl" rotWithShape="0">
                  <a:prstClr val="black">
                    <a:alpha val="30000"/>
                  </a:prstClr>
                </a:outerShdw>
              </a:effectLst>
            </a:endParaRPr>
          </a:p>
        </p:txBody>
      </p:sp>
      <p:sp>
        <p:nvSpPr>
          <p:cNvPr id="6" name="Content Placeholder 5">
            <a:extLst>
              <a:ext uri="{FF2B5EF4-FFF2-40B4-BE49-F238E27FC236}">
                <a16:creationId xmlns:a16="http://schemas.microsoft.com/office/drawing/2014/main" id="{E6985AE1-62A0-33C3-9F6D-300F92F22B68}"/>
              </a:ext>
            </a:extLst>
          </p:cNvPr>
          <p:cNvSpPr>
            <a:spLocks noGrp="1"/>
          </p:cNvSpPr>
          <p:nvPr>
            <p:ph idx="1"/>
          </p:nvPr>
        </p:nvSpPr>
        <p:spPr>
          <a:xfrm>
            <a:off x="295836" y="2330264"/>
            <a:ext cx="11607274" cy="4655752"/>
          </a:xfrm>
        </p:spPr>
        <p:txBody>
          <a:bodyPr>
            <a:normAutofit/>
          </a:bodyPr>
          <a:lstStyle/>
          <a:p>
            <a:pPr marL="37465" indent="0">
              <a:buNone/>
            </a:pPr>
            <a:r>
              <a:rPr lang="en-US" sz="2800" b="1" dirty="0">
                <a:latin typeface="Times New Roman"/>
                <a:cs typeface="Times New Roman"/>
              </a:rPr>
              <a:t>Project Title:</a:t>
            </a:r>
          </a:p>
          <a:p>
            <a:pPr marL="37465" indent="0">
              <a:buNone/>
            </a:pPr>
            <a:r>
              <a:rPr lang="en-US" sz="2800" dirty="0">
                <a:latin typeface="Times New Roman"/>
                <a:ea typeface="+mn-lt"/>
                <a:cs typeface="Times New Roman"/>
              </a:rPr>
              <a:t>                 </a:t>
            </a:r>
            <a:r>
              <a:rPr lang="en-US" sz="3200" dirty="0">
                <a:latin typeface="Times New Roman"/>
                <a:ea typeface="+mn-lt"/>
                <a:cs typeface="+mn-lt"/>
              </a:rPr>
              <a:t>Hybrid</a:t>
            </a:r>
            <a:r>
              <a:rPr lang="en-US" sz="3200" dirty="0">
                <a:ea typeface="+mn-lt"/>
                <a:cs typeface="+mn-lt"/>
              </a:rPr>
              <a:t> Product Recommendation System for E-Commerce 										Platform</a:t>
            </a:r>
            <a:endParaRPr lang="en-US" sz="3200" dirty="0">
              <a:ln>
                <a:solidFill>
                  <a:prstClr val="black">
                    <a:lumMod val="75000"/>
                    <a:lumOff val="25000"/>
                    <a:alpha val="10000"/>
                  </a:prstClr>
                </a:solidFill>
              </a:ln>
              <a:effectLst>
                <a:outerShdw blurRad="9525" dist="25400" dir="14640000" algn="tl" rotWithShape="0">
                  <a:prstClr val="black">
                    <a:alpha val="30000"/>
                  </a:prstClr>
                </a:outerShdw>
              </a:effectLst>
              <a:latin typeface="Goudy Old Style"/>
              <a:cs typeface="Times New Roman"/>
            </a:endParaRPr>
          </a:p>
          <a:p>
            <a:pPr marL="37465" indent="0">
              <a:buNone/>
            </a:pPr>
            <a:r>
              <a:rPr lang="en-US" dirty="0"/>
              <a:t>Student’s name’s :       T. Rajesh (22781A33C5)</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0" indent="0">
              <a:buNone/>
            </a:pPr>
            <a:r>
              <a:rPr lang="en-US" dirty="0"/>
              <a:t>                                    K. </a:t>
            </a:r>
            <a:r>
              <a:rPr lang="en-US" dirty="0" err="1"/>
              <a:t>Ugeswar</a:t>
            </a:r>
            <a:r>
              <a:rPr lang="en-US" dirty="0"/>
              <a:t> (23785A3309)</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0" indent="0">
              <a:buNone/>
            </a:pPr>
            <a:r>
              <a:rPr lang="en-US" dirty="0"/>
              <a:t>                                    V. Sandhya (22781A33E0)                                          </a:t>
            </a:r>
            <a:r>
              <a:rPr lang="en-US" sz="3200" dirty="0">
                <a:latin typeface="Times New Roman"/>
                <a:cs typeface="Times New Roman"/>
              </a:rPr>
              <a:t>Guide:</a:t>
            </a:r>
          </a:p>
          <a:p>
            <a:pPr marL="0" indent="0">
              <a:buNone/>
            </a:pPr>
            <a:r>
              <a:rPr lang="en-US" dirty="0"/>
              <a:t>                                    Rishi Kumar (22781A33F3)                                       </a:t>
            </a:r>
            <a:r>
              <a:rPr lang="en-IN" sz="2000" b="1" dirty="0">
                <a:effectLst/>
              </a:rPr>
              <a:t>DR.G. KAVITHA</a:t>
            </a:r>
            <a:endParaRPr lang="en-US" sz="2000" dirty="0"/>
          </a:p>
          <a:p>
            <a:pPr indent="-305435"/>
            <a:endParaRPr lang="en-IN"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pic>
        <p:nvPicPr>
          <p:cNvPr id="7" name="Content Placeholder 3" descr="A logo of a college&#10;&#10;AI-generated content may be incorrect.">
            <a:extLst>
              <a:ext uri="{FF2B5EF4-FFF2-40B4-BE49-F238E27FC236}">
                <a16:creationId xmlns:a16="http://schemas.microsoft.com/office/drawing/2014/main" id="{081D3E52-15E9-F6AB-B883-11BAB324D915}"/>
              </a:ext>
            </a:extLst>
          </p:cNvPr>
          <p:cNvPicPr>
            <a:picLocks noGrp="1" noChangeAspect="1"/>
          </p:cNvPicPr>
          <p:nvPr>
            <p:ph idx="1"/>
          </p:nvPr>
        </p:nvPicPr>
        <p:blipFill>
          <a:blip r:embed="rId2"/>
          <a:srcRect l="17612" r="17083" b="-581"/>
          <a:stretch>
            <a:fillRect/>
          </a:stretch>
        </p:blipFill>
        <p:spPr>
          <a:xfrm>
            <a:off x="418595" y="67093"/>
            <a:ext cx="2042580" cy="2268409"/>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702279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AF9BA-F547-FDE4-7304-9ECC47D0DBC7}"/>
              </a:ext>
            </a:extLst>
          </p:cNvPr>
          <p:cNvSpPr>
            <a:spLocks noGrp="1"/>
          </p:cNvSpPr>
          <p:nvPr>
            <p:ph type="title"/>
          </p:nvPr>
        </p:nvSpPr>
        <p:spPr>
          <a:xfrm>
            <a:off x="521110" y="530941"/>
            <a:ext cx="10353762" cy="1257300"/>
          </a:xfrm>
        </p:spPr>
        <p:txBody>
          <a:bodyPr>
            <a:normAutofit/>
          </a:bodyPr>
          <a:lstStyle/>
          <a:p>
            <a:pPr algn="l"/>
            <a:r>
              <a:rPr lang="en-US" sz="4400" dirty="0">
                <a:latin typeface="Times New Roman" panose="02020603050405020304" pitchFamily="18" charset="0"/>
                <a:cs typeface="Times New Roman" panose="02020603050405020304" pitchFamily="18" charset="0"/>
              </a:rPr>
              <a:t>AGENDA:</a:t>
            </a:r>
            <a:endParaRPr lang="en-IN" sz="4400" dirty="0"/>
          </a:p>
        </p:txBody>
      </p:sp>
      <p:sp>
        <p:nvSpPr>
          <p:cNvPr id="3" name="Content Placeholder 2">
            <a:extLst>
              <a:ext uri="{FF2B5EF4-FFF2-40B4-BE49-F238E27FC236}">
                <a16:creationId xmlns:a16="http://schemas.microsoft.com/office/drawing/2014/main" id="{6AEFEE67-2F34-65A2-DC2C-E3B49013210F}"/>
              </a:ext>
            </a:extLst>
          </p:cNvPr>
          <p:cNvSpPr>
            <a:spLocks noGrp="1"/>
          </p:cNvSpPr>
          <p:nvPr>
            <p:ph idx="1"/>
          </p:nvPr>
        </p:nvSpPr>
        <p:spPr>
          <a:xfrm>
            <a:off x="521110" y="1504335"/>
            <a:ext cx="11375922" cy="5063613"/>
          </a:xfrm>
        </p:spPr>
        <p:txBody>
          <a:bodyPr>
            <a:normAutofit fontScale="70000" lnSpcReduction="20000"/>
          </a:bodyPr>
          <a:lstStyle/>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INTRODUCTION</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ABSTRACT</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LITERATURE SURVEY</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EXISTING SYSTEM</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DRAWBACKS IN EXISTING SYSTEM</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PROPOSED SYSTEM</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MODULE &amp; MODULE DESCRIPTION</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FUTURE SCOPE</a:t>
            </a:r>
          </a:p>
          <a:p>
            <a:pPr marL="457200" indent="-457200">
              <a:lnSpc>
                <a:spcPct val="170000"/>
              </a:lnSpc>
              <a:buFont typeface="+mj-lt"/>
              <a:buAutoNum type="arabicPeriod"/>
            </a:pPr>
            <a:r>
              <a:rPr lang="en-US" sz="2600" dirty="0">
                <a:latin typeface="Times New Roman" panose="02020603050405020304" pitchFamily="18" charset="0"/>
                <a:ea typeface="Calibri" panose="020F0502020204030204" pitchFamily="34" charset="0"/>
                <a:cs typeface="Times New Roman" panose="02020603050405020304" pitchFamily="18" charset="0"/>
              </a:rPr>
              <a:t>CONCLUSION </a:t>
            </a:r>
          </a:p>
          <a:p>
            <a:endParaRPr lang="en-IN" dirty="0"/>
          </a:p>
        </p:txBody>
      </p:sp>
    </p:spTree>
    <p:extLst>
      <p:ext uri="{BB962C8B-B14F-4D97-AF65-F5344CB8AC3E}">
        <p14:creationId xmlns:p14="http://schemas.microsoft.com/office/powerpoint/2010/main" val="3369665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ABFA1-7612-55F7-5944-2696E867A38D}"/>
              </a:ext>
            </a:extLst>
          </p:cNvPr>
          <p:cNvSpPr>
            <a:spLocks noGrp="1"/>
          </p:cNvSpPr>
          <p:nvPr>
            <p:ph type="title"/>
          </p:nvPr>
        </p:nvSpPr>
        <p:spPr>
          <a:xfrm>
            <a:off x="263785" y="342752"/>
            <a:ext cx="10353762" cy="1257300"/>
          </a:xfrm>
        </p:spPr>
        <p:txBody>
          <a:bodyPr>
            <a:normAutofit/>
          </a:bodyPr>
          <a:lstStyle/>
          <a:p>
            <a:pPr algn="l"/>
            <a:r>
              <a:rPr lang="en-IN" sz="4000" dirty="0">
                <a:latin typeface="Times New Roman" panose="02020603050405020304" pitchFamily="18" charset="0"/>
                <a:cs typeface="Times New Roman" panose="02020603050405020304" pitchFamily="18" charset="0"/>
              </a:rPr>
              <a:t>1. INTRODUCTION:</a:t>
            </a:r>
            <a:endParaRPr lang="en-IN" sz="4000" dirty="0"/>
          </a:p>
        </p:txBody>
      </p:sp>
      <p:sp>
        <p:nvSpPr>
          <p:cNvPr id="3" name="Content Placeholder 2">
            <a:extLst>
              <a:ext uri="{FF2B5EF4-FFF2-40B4-BE49-F238E27FC236}">
                <a16:creationId xmlns:a16="http://schemas.microsoft.com/office/drawing/2014/main" id="{E326BF63-CE32-D791-A2E3-8E2BC7E702B3}"/>
              </a:ext>
            </a:extLst>
          </p:cNvPr>
          <p:cNvSpPr>
            <a:spLocks noGrp="1"/>
          </p:cNvSpPr>
          <p:nvPr>
            <p:ph idx="1"/>
          </p:nvPr>
        </p:nvSpPr>
        <p:spPr>
          <a:xfrm>
            <a:off x="844099" y="1289894"/>
            <a:ext cx="11474246" cy="5088194"/>
          </a:xfrm>
        </p:spPr>
        <p:txBody>
          <a:bodyPr>
            <a:normAutofit/>
          </a:bodyPr>
          <a:lstStyle/>
          <a:p>
            <a:r>
              <a:rPr lang="en-US" sz="2400" dirty="0"/>
              <a:t>Online platforms today offer an overwhelming number of products, yet users continue to struggle with finding items that truly match their preferences and needs. Despite advances in data analytics and machine learning, product discovery is still affected by guesswork, irrelevant suggestions, and delayed personalization. Many users rely on generic recommendations or manual searches, often after spending significant time navigating unsuitable options. The current recommendation approaches lack precision, adaptability, and contextual understanding. Suggestions are frequently reactive, poorly personalized, and disconnected from real user behavior. This not only reduces user satisfaction and engagement but also impacts business performance and customer retention. It is clear that there is a critical need for intelligent, user-centric recommendation systems that can understand user preferences early, adapt dynamically, and deliver accurate, personalized product suggestions users can trust</a:t>
            </a:r>
            <a:r>
              <a:rPr lang="en-US" sz="1800" dirty="0"/>
              <a:t>.</a:t>
            </a:r>
            <a:endParaRPr lang="en-IN" sz="1800" dirty="0"/>
          </a:p>
        </p:txBody>
      </p:sp>
    </p:spTree>
    <p:extLst>
      <p:ext uri="{BB962C8B-B14F-4D97-AF65-F5344CB8AC3E}">
        <p14:creationId xmlns:p14="http://schemas.microsoft.com/office/powerpoint/2010/main" val="3248095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C4761-7F73-C6D2-417C-ABDF331A05FE}"/>
              </a:ext>
            </a:extLst>
          </p:cNvPr>
          <p:cNvSpPr>
            <a:spLocks noGrp="1"/>
          </p:cNvSpPr>
          <p:nvPr>
            <p:ph type="title"/>
          </p:nvPr>
        </p:nvSpPr>
        <p:spPr>
          <a:xfrm>
            <a:off x="374004" y="313256"/>
            <a:ext cx="10353762" cy="1257300"/>
          </a:xfrm>
        </p:spPr>
        <p:txBody>
          <a:bodyPr>
            <a:normAutofit/>
          </a:bodyPr>
          <a:lstStyle/>
          <a:p>
            <a:pPr algn="l"/>
            <a:r>
              <a:rPr lang="en-IN" sz="4400" b="1" dirty="0">
                <a:latin typeface="Times New Roman" panose="02020603050405020304" pitchFamily="18" charset="0"/>
                <a:cs typeface="Times New Roman" panose="02020603050405020304" pitchFamily="18" charset="0"/>
              </a:rPr>
              <a:t>2. ABSTRACT :</a:t>
            </a:r>
            <a:endParaRPr lang="en-IN" sz="4400" dirty="0"/>
          </a:p>
        </p:txBody>
      </p:sp>
      <p:sp>
        <p:nvSpPr>
          <p:cNvPr id="3" name="Content Placeholder 2">
            <a:extLst>
              <a:ext uri="{FF2B5EF4-FFF2-40B4-BE49-F238E27FC236}">
                <a16:creationId xmlns:a16="http://schemas.microsoft.com/office/drawing/2014/main" id="{238FD19A-1BFE-E4A2-7F5A-E219832CE691}"/>
              </a:ext>
            </a:extLst>
          </p:cNvPr>
          <p:cNvSpPr>
            <a:spLocks noGrp="1"/>
          </p:cNvSpPr>
          <p:nvPr>
            <p:ph idx="1"/>
          </p:nvPr>
        </p:nvSpPr>
        <p:spPr>
          <a:xfrm>
            <a:off x="630446" y="1746602"/>
            <a:ext cx="11415250" cy="5255342"/>
          </a:xfrm>
        </p:spPr>
        <p:txBody>
          <a:bodyPr>
            <a:normAutofit/>
          </a:bodyPr>
          <a:lstStyle/>
          <a:p>
            <a:pPr algn="just"/>
            <a:r>
              <a:rPr lang="en-US" sz="2400" dirty="0"/>
              <a:t>To address the challenge of information overload in online platforms, we developed an intelligent product recommendation system that analyzes user interactions to deliver personalized suggestions. Using machine learning techniques, the system identifies user preferences, predicts relevant products, and ranks recommendations accordingly. Based on user behavior and product features, it generates accurate and meaningful recommendations in real time. The platform integrates collaborative filtering, content-based analysis, data preprocessing, and a user-friendly interface, making product discovery efficient, scalable, and user-centric.</a:t>
            </a:r>
            <a:endParaRPr lang="en-IN" sz="2400" dirty="0"/>
          </a:p>
        </p:txBody>
      </p:sp>
    </p:spTree>
    <p:extLst>
      <p:ext uri="{BB962C8B-B14F-4D97-AF65-F5344CB8AC3E}">
        <p14:creationId xmlns:p14="http://schemas.microsoft.com/office/powerpoint/2010/main" val="1652532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D9A13-1715-DEA0-97B1-815E0560741E}"/>
              </a:ext>
            </a:extLst>
          </p:cNvPr>
          <p:cNvSpPr>
            <a:spLocks noGrp="1"/>
          </p:cNvSpPr>
          <p:nvPr>
            <p:ph type="title"/>
          </p:nvPr>
        </p:nvSpPr>
        <p:spPr>
          <a:xfrm>
            <a:off x="393290" y="235974"/>
            <a:ext cx="10353762" cy="1257300"/>
          </a:xfrm>
        </p:spPr>
        <p:txBody>
          <a:bodyPr>
            <a:normAutofit/>
          </a:bodyPr>
          <a:lstStyle/>
          <a:p>
            <a:pPr algn="l"/>
            <a:r>
              <a:rPr lang="en-US" sz="4000" dirty="0">
                <a:latin typeface="Times New Roman" panose="02020603050405020304" pitchFamily="18" charset="0"/>
                <a:ea typeface="Calibri" panose="020F0502020204030204" pitchFamily="34" charset="0"/>
                <a:cs typeface="Times New Roman" panose="02020603050405020304" pitchFamily="18" charset="0"/>
              </a:rPr>
              <a:t>4.LITERATURE SURVEY :</a:t>
            </a:r>
            <a:endParaRPr lang="en-IN" sz="4000" dirty="0"/>
          </a:p>
        </p:txBody>
      </p:sp>
      <p:graphicFrame>
        <p:nvGraphicFramePr>
          <p:cNvPr id="4" name="Content Placeholder 3">
            <a:extLst>
              <a:ext uri="{FF2B5EF4-FFF2-40B4-BE49-F238E27FC236}">
                <a16:creationId xmlns:a16="http://schemas.microsoft.com/office/drawing/2014/main" id="{CA185D86-FE61-84D4-694C-1B5EACF27A54}"/>
              </a:ext>
            </a:extLst>
          </p:cNvPr>
          <p:cNvGraphicFramePr>
            <a:graphicFrameLocks noGrp="1"/>
          </p:cNvGraphicFramePr>
          <p:nvPr>
            <p:ph idx="1"/>
            <p:extLst>
              <p:ext uri="{D42A27DB-BD31-4B8C-83A1-F6EECF244321}">
                <p14:modId xmlns:p14="http://schemas.microsoft.com/office/powerpoint/2010/main" val="2069510830"/>
              </p:ext>
            </p:extLst>
          </p:nvPr>
        </p:nvGraphicFramePr>
        <p:xfrm>
          <a:off x="550606" y="1385787"/>
          <a:ext cx="11081759" cy="4995347"/>
        </p:xfrm>
        <a:graphic>
          <a:graphicData uri="http://schemas.openxmlformats.org/drawingml/2006/table">
            <a:tbl>
              <a:tblPr/>
              <a:tblGrid>
                <a:gridCol w="2763671">
                  <a:extLst>
                    <a:ext uri="{9D8B030D-6E8A-4147-A177-3AD203B41FA5}">
                      <a16:colId xmlns:a16="http://schemas.microsoft.com/office/drawing/2014/main" val="2109040420"/>
                    </a:ext>
                  </a:extLst>
                </a:gridCol>
                <a:gridCol w="2772696">
                  <a:extLst>
                    <a:ext uri="{9D8B030D-6E8A-4147-A177-3AD203B41FA5}">
                      <a16:colId xmlns:a16="http://schemas.microsoft.com/office/drawing/2014/main" val="1657450303"/>
                    </a:ext>
                  </a:extLst>
                </a:gridCol>
                <a:gridCol w="2772696">
                  <a:extLst>
                    <a:ext uri="{9D8B030D-6E8A-4147-A177-3AD203B41FA5}">
                      <a16:colId xmlns:a16="http://schemas.microsoft.com/office/drawing/2014/main" val="1815302349"/>
                    </a:ext>
                  </a:extLst>
                </a:gridCol>
                <a:gridCol w="2772696">
                  <a:extLst>
                    <a:ext uri="{9D8B030D-6E8A-4147-A177-3AD203B41FA5}">
                      <a16:colId xmlns:a16="http://schemas.microsoft.com/office/drawing/2014/main" val="3553369242"/>
                    </a:ext>
                  </a:extLst>
                </a:gridCol>
              </a:tblGrid>
              <a:tr h="296942">
                <a:tc>
                  <a:txBody>
                    <a:bodyPr/>
                    <a:lstStyle/>
                    <a:p>
                      <a:pPr algn="ctr">
                        <a:buNone/>
                      </a:pPr>
                      <a:r>
                        <a:rPr lang="en-IN" sz="1400" b="1" dirty="0"/>
                        <a:t>Title</a:t>
                      </a:r>
                      <a:endParaRPr lang="en-IN" sz="1400" dirty="0"/>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IN" sz="1400" b="1"/>
                        <a:t>Year</a:t>
                      </a:r>
                      <a:endParaRPr lang="en-IN" sz="1400"/>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IN" sz="1400" b="1"/>
                        <a:t>Technologies Used</a:t>
                      </a:r>
                      <a:endParaRPr lang="en-IN" sz="1400"/>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IN" sz="1400" b="1"/>
                        <a:t>Demerits / Limitations</a:t>
                      </a:r>
                      <a:endParaRPr lang="en-IN" sz="1400"/>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722563231"/>
                  </a:ext>
                </a:extLst>
              </a:tr>
              <a:tr h="1100877">
                <a:tc>
                  <a:txBody>
                    <a:bodyPr/>
                    <a:lstStyle/>
                    <a:p>
                      <a:pPr>
                        <a:buNone/>
                      </a:pPr>
                      <a:r>
                        <a:rPr lang="en-IN" sz="1400" dirty="0"/>
                        <a:t>Ordered Clustering-based Algorithm (OCA) for E-commerce Recommendation Systems – Gulzar et al.</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IN" sz="1400"/>
                        <a:t>2022</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Collaborative Filtering, Ordered Clustering Algorithm (OCA), User Similarity Analysis</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Performance depends on the quality of similarity measures and may struggle with highly dynamic user behavior.</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004134789"/>
                  </a:ext>
                </a:extLst>
              </a:tr>
              <a:tr h="1307292">
                <a:tc>
                  <a:txBody>
                    <a:bodyPr/>
                    <a:lstStyle/>
                    <a:p>
                      <a:pPr>
                        <a:buNone/>
                      </a:pPr>
                      <a:r>
                        <a:rPr lang="en-US" sz="1400" dirty="0"/>
                        <a:t>Product Recommendation System for E-commerce using Neural Collaborative Filtering and Hybrid Methods – Ilyes</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IN" sz="1400"/>
                        <a:t>2023</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IN" sz="1400" dirty="0"/>
                        <a:t>Hybrid Recommendation Models, Pattern Recognition</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Increased computational complexity and higher training time due to hybrid and neural models.</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023457669"/>
                  </a:ext>
                </a:extLst>
              </a:tr>
              <a:tr h="1145118">
                <a:tc>
                  <a:txBody>
                    <a:bodyPr/>
                    <a:lstStyle/>
                    <a:p>
                      <a:pPr>
                        <a:buNone/>
                      </a:pPr>
                      <a:r>
                        <a:rPr lang="en-IN" sz="1400" dirty="0"/>
                        <a:t>Machine Learning-based E-commerce Product Recommendation System – Rahman, Haque &amp; Ahmad</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IN" sz="1400"/>
                        <a:t>2024</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dirty="0"/>
                        <a:t>Gaussian Naive Bayes, Decision Tree, Random Forest, Logistic Regression, PCA</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a:t>Requires careful feature selection and parameter tuning; scalability can be challenging for very large datasets.</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850890770"/>
                  </a:ext>
                </a:extLst>
              </a:tr>
              <a:tr h="1145118">
                <a:tc>
                  <a:txBody>
                    <a:bodyPr/>
                    <a:lstStyle/>
                    <a:p>
                      <a:pPr>
                        <a:buNone/>
                      </a:pPr>
                      <a:r>
                        <a:rPr lang="en-US" sz="1400" dirty="0"/>
                        <a:t>Hybrid E-commerce Recommendation System using K-Means and Case-Based Reasoning – </a:t>
                      </a:r>
                      <a:r>
                        <a:rPr lang="en-US" sz="1400" dirty="0" err="1"/>
                        <a:t>Wattimena</a:t>
                      </a:r>
                      <a:r>
                        <a:rPr lang="en-US" sz="1400" dirty="0"/>
                        <a:t> &amp; </a:t>
                      </a:r>
                      <a:r>
                        <a:rPr lang="en-US" sz="1400" dirty="0" err="1"/>
                        <a:t>Rofi’i</a:t>
                      </a:r>
                      <a:endParaRPr lang="en-US" sz="1400" dirty="0"/>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ctr">
                        <a:buNone/>
                      </a:pPr>
                      <a:r>
                        <a:rPr lang="en-IN" sz="1400" dirty="0"/>
                        <a:t>2025</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dirty="0"/>
                        <a:t>K-Means Clustering, Case-Based Reasoning (CBR), Hybrid Recommendation Approach</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sz="1400" dirty="0"/>
                        <a:t>Effectiveness depends on the availability of relevant past cases; limited adaptability to new users (cold-start).</a:t>
                      </a:r>
                    </a:p>
                  </a:txBody>
                  <a:tcPr marL="71885" marR="71885" marT="35942" marB="35942"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158827100"/>
                  </a:ext>
                </a:extLst>
              </a:tr>
            </a:tbl>
          </a:graphicData>
        </a:graphic>
      </p:graphicFrame>
    </p:spTree>
    <p:extLst>
      <p:ext uri="{BB962C8B-B14F-4D97-AF65-F5344CB8AC3E}">
        <p14:creationId xmlns:p14="http://schemas.microsoft.com/office/powerpoint/2010/main" val="1216836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74F6E-0465-7FD8-8EFE-340A24D7186C}"/>
              </a:ext>
            </a:extLst>
          </p:cNvPr>
          <p:cNvSpPr>
            <a:spLocks noGrp="1"/>
          </p:cNvSpPr>
          <p:nvPr>
            <p:ph type="title"/>
          </p:nvPr>
        </p:nvSpPr>
        <p:spPr/>
        <p:txBody>
          <a:bodyPr>
            <a:normAutofit/>
          </a:bodyPr>
          <a:lstStyle/>
          <a:p>
            <a:pPr algn="l"/>
            <a:r>
              <a:rPr lang="en-IN" sz="3600" dirty="0">
                <a:latin typeface="Times New Roman" panose="02020603050405020304" pitchFamily="18" charset="0"/>
                <a:cs typeface="Times New Roman" panose="02020603050405020304" pitchFamily="18" charset="0"/>
              </a:rPr>
              <a:t>HARDWARE AND SOFTWARE REQUIREMENTS :</a:t>
            </a:r>
            <a:endParaRPr lang="en-IN" sz="3600" dirty="0"/>
          </a:p>
        </p:txBody>
      </p:sp>
      <p:sp>
        <p:nvSpPr>
          <p:cNvPr id="3" name="Content Placeholder 2">
            <a:extLst>
              <a:ext uri="{FF2B5EF4-FFF2-40B4-BE49-F238E27FC236}">
                <a16:creationId xmlns:a16="http://schemas.microsoft.com/office/drawing/2014/main" id="{FF877BC2-99D0-CB91-7333-2520DD5A0F2A}"/>
              </a:ext>
            </a:extLst>
          </p:cNvPr>
          <p:cNvSpPr>
            <a:spLocks noGrp="1"/>
          </p:cNvSpPr>
          <p:nvPr>
            <p:ph sz="half" idx="1"/>
          </p:nvPr>
        </p:nvSpPr>
        <p:spPr>
          <a:xfrm>
            <a:off x="456595" y="1871472"/>
            <a:ext cx="5066381" cy="4370070"/>
          </a:xfrm>
        </p:spPr>
        <p:txBody>
          <a:bodyPr>
            <a:normAutofit fontScale="55000" lnSpcReduction="20000"/>
          </a:bodyPr>
          <a:lstStyle/>
          <a:p>
            <a:pPr marL="36900" indent="0">
              <a:buNone/>
            </a:pPr>
            <a:r>
              <a:rPr lang="en-IN" sz="3800" b="1" dirty="0"/>
              <a:t>Hardware Requirements</a:t>
            </a:r>
          </a:p>
          <a:p>
            <a:r>
              <a:rPr lang="en-IN" sz="3800" b="1" dirty="0"/>
              <a:t>Processor:</a:t>
            </a:r>
            <a:r>
              <a:rPr lang="en-IN" sz="3800" dirty="0"/>
              <a:t> Intel Core i5 / i7 or AMD </a:t>
            </a:r>
            <a:r>
              <a:rPr lang="en-IN" sz="3800" dirty="0" err="1"/>
              <a:t>Ryzen</a:t>
            </a:r>
            <a:r>
              <a:rPr lang="en-IN" sz="3800" dirty="0"/>
              <a:t> 5 / 7</a:t>
            </a:r>
          </a:p>
          <a:p>
            <a:r>
              <a:rPr lang="en-IN" sz="3800" b="1" dirty="0"/>
              <a:t>RAM:</a:t>
            </a:r>
            <a:r>
              <a:rPr lang="en-IN" sz="3800" dirty="0"/>
              <a:t> Minimum 8 GB (16 GB recommended for better performance)</a:t>
            </a:r>
          </a:p>
          <a:p>
            <a:r>
              <a:rPr lang="en-IN" sz="3800" b="1" dirty="0"/>
              <a:t>Storage:</a:t>
            </a:r>
            <a:r>
              <a:rPr lang="en-IN" sz="3800" dirty="0"/>
              <a:t> At least 20–50 GB free disk space</a:t>
            </a:r>
          </a:p>
          <a:p>
            <a:r>
              <a:rPr lang="en-IN" sz="3800" b="1" dirty="0"/>
              <a:t>GPU (Optional):</a:t>
            </a:r>
            <a:r>
              <a:rPr lang="en-IN" sz="3800" dirty="0"/>
              <a:t> NVIDIA GPU (for faster model training on large datasets)</a:t>
            </a:r>
          </a:p>
          <a:p>
            <a:r>
              <a:rPr lang="en-IN" sz="3800" b="1" dirty="0"/>
              <a:t>Internet:</a:t>
            </a:r>
            <a:r>
              <a:rPr lang="en-IN" sz="3800" dirty="0"/>
              <a:t> Required for data access and deployment</a:t>
            </a:r>
          </a:p>
          <a:p>
            <a:pPr marL="37465" indent="0">
              <a:buNone/>
            </a:pPr>
            <a:endParaRPr lang="en-IN" sz="1800"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8" name="Content Placeholder 7">
            <a:extLst>
              <a:ext uri="{FF2B5EF4-FFF2-40B4-BE49-F238E27FC236}">
                <a16:creationId xmlns:a16="http://schemas.microsoft.com/office/drawing/2014/main" id="{20EF5602-83CA-CA1D-6A6D-6E339C125107}"/>
              </a:ext>
            </a:extLst>
          </p:cNvPr>
          <p:cNvSpPr>
            <a:spLocks noGrp="1"/>
          </p:cNvSpPr>
          <p:nvPr>
            <p:ph sz="half" idx="2"/>
          </p:nvPr>
        </p:nvSpPr>
        <p:spPr>
          <a:xfrm>
            <a:off x="6410716" y="1871472"/>
            <a:ext cx="4856841" cy="4872989"/>
          </a:xfrm>
        </p:spPr>
        <p:txBody>
          <a:bodyPr>
            <a:normAutofit fontScale="55000" lnSpcReduction="20000"/>
          </a:bodyPr>
          <a:lstStyle/>
          <a:p>
            <a:pPr marL="36900" indent="0">
              <a:buNone/>
            </a:pPr>
            <a:r>
              <a:rPr lang="en-IN" sz="3600" b="1" dirty="0"/>
              <a:t>Software Requirements</a:t>
            </a:r>
          </a:p>
          <a:p>
            <a:r>
              <a:rPr lang="en-IN" sz="2900" b="1" dirty="0"/>
              <a:t>Operating System:</a:t>
            </a:r>
            <a:r>
              <a:rPr lang="en-IN" sz="2900" dirty="0"/>
              <a:t> Windows 10/11, Ubuntu 20.04+, or macOS</a:t>
            </a:r>
          </a:p>
          <a:p>
            <a:r>
              <a:rPr lang="en-IN" sz="2900" b="1" dirty="0"/>
              <a:t>Programming Language:</a:t>
            </a:r>
            <a:r>
              <a:rPr lang="en-IN" sz="2900" dirty="0"/>
              <a:t> Python 3.8 or above</a:t>
            </a:r>
          </a:p>
          <a:p>
            <a:r>
              <a:rPr lang="en-IN" sz="2900" b="1" dirty="0"/>
              <a:t>Libraries &amp; Frameworks:</a:t>
            </a:r>
            <a:endParaRPr lang="en-IN" sz="2900" dirty="0"/>
          </a:p>
          <a:p>
            <a:pPr lvl="1"/>
            <a:r>
              <a:rPr lang="en-IN" sz="2900" dirty="0"/>
              <a:t>NumPy, Pandas (data processing)</a:t>
            </a:r>
          </a:p>
          <a:p>
            <a:pPr lvl="1"/>
            <a:r>
              <a:rPr lang="en-IN" sz="2900" dirty="0"/>
              <a:t>Scikit-learn (machine learning)</a:t>
            </a:r>
          </a:p>
          <a:p>
            <a:pPr lvl="1"/>
            <a:r>
              <a:rPr lang="en-IN" sz="2900" dirty="0"/>
              <a:t>Surprise (collaborative filtering)</a:t>
            </a:r>
          </a:p>
          <a:p>
            <a:pPr lvl="1"/>
            <a:r>
              <a:rPr lang="en-IN" sz="2900" dirty="0"/>
              <a:t>Matplotlib / Seaborn (visualization)</a:t>
            </a:r>
          </a:p>
          <a:p>
            <a:r>
              <a:rPr lang="en-IN" sz="2900" b="1" dirty="0"/>
              <a:t>Web Framework (Optional):</a:t>
            </a:r>
            <a:r>
              <a:rPr lang="en-IN" sz="2900" dirty="0"/>
              <a:t> Flask / Django</a:t>
            </a:r>
          </a:p>
          <a:p>
            <a:r>
              <a:rPr lang="en-IN" sz="2900" b="1" dirty="0"/>
              <a:t>Development Tools:</a:t>
            </a:r>
            <a:r>
              <a:rPr lang="en-IN" sz="2900" dirty="0"/>
              <a:t> VS Code / </a:t>
            </a:r>
            <a:r>
              <a:rPr lang="en-IN" sz="2900" dirty="0" err="1"/>
              <a:t>Jupyter</a:t>
            </a:r>
            <a:r>
              <a:rPr lang="en-IN" sz="2900" dirty="0"/>
              <a:t> Notebook</a:t>
            </a:r>
          </a:p>
          <a:p>
            <a:r>
              <a:rPr lang="en-IN" sz="2900" b="1" dirty="0"/>
              <a:t>Database (Optional):</a:t>
            </a:r>
            <a:r>
              <a:rPr lang="en-IN" sz="2900" dirty="0"/>
              <a:t> MySQL / MongoDB</a:t>
            </a:r>
          </a:p>
          <a:p>
            <a:endParaRPr lang="en-IN" sz="2400" dirty="0"/>
          </a:p>
        </p:txBody>
      </p:sp>
    </p:spTree>
    <p:extLst>
      <p:ext uri="{BB962C8B-B14F-4D97-AF65-F5344CB8AC3E}">
        <p14:creationId xmlns:p14="http://schemas.microsoft.com/office/powerpoint/2010/main" val="2761183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C908-7CBB-9E52-CBC7-1D3CF7E05E76}"/>
              </a:ext>
            </a:extLst>
          </p:cNvPr>
          <p:cNvSpPr>
            <a:spLocks noGrp="1"/>
          </p:cNvSpPr>
          <p:nvPr>
            <p:ph type="title"/>
          </p:nvPr>
        </p:nvSpPr>
        <p:spPr>
          <a:xfrm>
            <a:off x="284530" y="226142"/>
            <a:ext cx="10353762" cy="1257300"/>
          </a:xfrm>
        </p:spPr>
        <p:txBody>
          <a:bodyPr>
            <a:normAutofit/>
          </a:bodyPr>
          <a:lstStyle/>
          <a:p>
            <a:pPr algn="l"/>
            <a:r>
              <a:rPr lang="en-US" sz="4000" dirty="0">
                <a:latin typeface="Times New Roman" panose="02020603050405020304" pitchFamily="18" charset="0"/>
                <a:cs typeface="Times New Roman" panose="02020603050405020304" pitchFamily="18" charset="0"/>
              </a:rPr>
              <a:t>4. Existing System:</a:t>
            </a:r>
            <a:endParaRPr lang="en-US" sz="4000" dirty="0"/>
          </a:p>
        </p:txBody>
      </p:sp>
      <p:sp>
        <p:nvSpPr>
          <p:cNvPr id="3" name="Content Placeholder 2">
            <a:extLst>
              <a:ext uri="{FF2B5EF4-FFF2-40B4-BE49-F238E27FC236}">
                <a16:creationId xmlns:a16="http://schemas.microsoft.com/office/drawing/2014/main" id="{0068AFD7-1D0D-FDE4-3E2E-06FAB102F7CB}"/>
              </a:ext>
            </a:extLst>
          </p:cNvPr>
          <p:cNvSpPr>
            <a:spLocks noGrp="1"/>
          </p:cNvSpPr>
          <p:nvPr>
            <p:ph idx="1"/>
          </p:nvPr>
        </p:nvSpPr>
        <p:spPr>
          <a:xfrm>
            <a:off x="677722" y="1278195"/>
            <a:ext cx="11622940" cy="5102940"/>
          </a:xfrm>
        </p:spPr>
        <p:txBody>
          <a:bodyPr>
            <a:normAutofit/>
          </a:bodyPr>
          <a:lstStyle/>
          <a:p>
            <a:pPr indent="-305435"/>
            <a:r>
              <a:rPr lang="en-US" sz="2400" dirty="0"/>
              <a:t>product recommendations are mostly generated using </a:t>
            </a:r>
            <a:r>
              <a:rPr lang="en-US" sz="2400" b="1" dirty="0"/>
              <a:t>basic and generalized techniques</a:t>
            </a:r>
            <a:r>
              <a:rPr lang="en-US" sz="2400" dirty="0"/>
              <a:t> such as popular products, top-rated items, or recently viewed products.</a:t>
            </a:r>
          </a:p>
          <a:p>
            <a:pPr indent="-305435"/>
            <a:r>
              <a:rPr lang="en-US" sz="2400" dirty="0"/>
              <a:t>These recommendation methods do not fully consider individual user preferences, browsing behavior, or purchase history, resulting in </a:t>
            </a:r>
            <a:r>
              <a:rPr lang="en-US" sz="2400" b="1" dirty="0"/>
              <a:t>limited personalization</a:t>
            </a:r>
            <a:r>
              <a:rPr lang="en-US" sz="2400" dirty="0"/>
              <a:t>.</a:t>
            </a:r>
            <a:endParaRPr lang="en-US" sz="24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sz="2400" dirty="0"/>
              <a:t> The lack of advanced machine learning and hybrid recommendation techniques limits their ability to capture complex user interest</a:t>
            </a:r>
          </a:p>
          <a:p>
            <a:pPr marL="37465" indent="0">
              <a:buNone/>
            </a:pPr>
            <a:endParaRPr lang="en-US" sz="2400"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3129657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7893C-2879-0136-3FEF-990F1DC6C3FD}"/>
              </a:ext>
            </a:extLst>
          </p:cNvPr>
          <p:cNvSpPr>
            <a:spLocks noGrp="1"/>
          </p:cNvSpPr>
          <p:nvPr>
            <p:ph type="title"/>
          </p:nvPr>
        </p:nvSpPr>
        <p:spPr>
          <a:xfrm>
            <a:off x="285135" y="462116"/>
            <a:ext cx="10353762" cy="1257300"/>
          </a:xfrm>
        </p:spPr>
        <p:txBody>
          <a:bodyPr>
            <a:normAutofit/>
          </a:bodyPr>
          <a:lstStyle/>
          <a:p>
            <a:pPr algn="l"/>
            <a:r>
              <a:rPr lang="en-US" sz="3600" b="1" dirty="0">
                <a:latin typeface="Times New Roman"/>
                <a:cs typeface="Times New Roman"/>
              </a:rPr>
              <a:t>5. EXISTING SYSTEM DRAWBACKS</a:t>
            </a:r>
            <a:r>
              <a:rPr lang="en-US" sz="4800" b="1" dirty="0">
                <a:latin typeface="Times New Roman"/>
                <a:cs typeface="Times New Roman"/>
              </a:rPr>
              <a:t>:</a:t>
            </a:r>
            <a:endParaRPr lang="en-IN" dirty="0"/>
          </a:p>
        </p:txBody>
      </p:sp>
      <p:sp>
        <p:nvSpPr>
          <p:cNvPr id="4" name="Rectangle 1">
            <a:extLst>
              <a:ext uri="{FF2B5EF4-FFF2-40B4-BE49-F238E27FC236}">
                <a16:creationId xmlns:a16="http://schemas.microsoft.com/office/drawing/2014/main" id="{B32200E5-9C69-6B2D-07D9-03D50F07616A}"/>
              </a:ext>
            </a:extLst>
          </p:cNvPr>
          <p:cNvSpPr>
            <a:spLocks noGrp="1" noChangeArrowheads="1"/>
          </p:cNvSpPr>
          <p:nvPr>
            <p:ph idx="1"/>
          </p:nvPr>
        </p:nvSpPr>
        <p:spPr bwMode="auto">
          <a:xfrm>
            <a:off x="641751" y="1788574"/>
            <a:ext cx="11621729" cy="385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305435" defTabSz="914400" eaLnBrk="0" fontAlgn="base" hangingPunct="0">
              <a:buClr>
                <a:srgbClr val="F4EDD8"/>
              </a:buClr>
            </a:pPr>
            <a:r>
              <a:rPr lang="en-US" sz="3200" dirty="0">
                <a:ln>
                  <a:noFill/>
                </a:ln>
                <a:solidFill>
                  <a:schemeClr val="tx1"/>
                </a:solidFill>
                <a:effectLst/>
                <a:ea typeface="+mn-lt"/>
                <a:cs typeface="+mn-lt"/>
              </a:rPr>
              <a:t>Provides </a:t>
            </a:r>
            <a:r>
              <a:rPr lang="en-US" sz="3200" b="1" dirty="0">
                <a:ln>
                  <a:noFill/>
                </a:ln>
                <a:solidFill>
                  <a:schemeClr val="tx1"/>
                </a:solidFill>
                <a:effectLst/>
                <a:ea typeface="+mn-lt"/>
                <a:cs typeface="+mn-lt"/>
              </a:rPr>
              <a:t>generic recommendations</a:t>
            </a:r>
            <a:r>
              <a:rPr lang="en-US" sz="3200" dirty="0">
                <a:ln>
                  <a:noFill/>
                </a:ln>
                <a:solidFill>
                  <a:schemeClr val="tx1"/>
                </a:solidFill>
                <a:effectLst/>
                <a:ea typeface="+mn-lt"/>
                <a:cs typeface="+mn-lt"/>
              </a:rPr>
              <a:t> same for all users</a:t>
            </a:r>
            <a:endParaRPr lang="en-US" altLang="en-US" sz="3200" dirty="0">
              <a:ln>
                <a:noFill/>
              </a:ln>
              <a:solidFill>
                <a:schemeClr val="tx1"/>
              </a:solidFill>
              <a:effectLst/>
              <a:latin typeface="Arial" panose="020B0604020202020204" pitchFamily="34" charset="0"/>
              <a:cs typeface="Arial" panose="020B0604020202020204" pitchFamily="34" charset="0"/>
            </a:endParaRPr>
          </a:p>
          <a:p>
            <a:pPr indent="-305435" defTabSz="914400">
              <a:buClr>
                <a:srgbClr val="F4EDD8"/>
              </a:buClr>
            </a:pPr>
            <a:r>
              <a:rPr lang="en-US" sz="3200" dirty="0">
                <a:ln>
                  <a:noFill/>
                </a:ln>
                <a:solidFill>
                  <a:schemeClr val="tx1"/>
                </a:solidFill>
                <a:effectLst/>
                <a:ea typeface="+mn-lt"/>
                <a:cs typeface="+mn-lt"/>
              </a:rPr>
              <a:t>Lacks personalization based on user preferences and behavior</a:t>
            </a:r>
            <a:endParaRPr lang="en-US" sz="3200" dirty="0">
              <a:solidFill>
                <a:schemeClr val="tx1"/>
              </a:solidFill>
            </a:endParaRPr>
          </a:p>
          <a:p>
            <a:pPr indent="-305435" defTabSz="914400">
              <a:buClr>
                <a:srgbClr val="F4EDD8"/>
              </a:buClr>
            </a:pPr>
            <a:r>
              <a:rPr lang="en-US" sz="3200" dirty="0">
                <a:ln>
                  <a:noFill/>
                </a:ln>
                <a:solidFill>
                  <a:schemeClr val="tx1"/>
                </a:solidFill>
                <a:effectLst/>
                <a:ea typeface="+mn-lt"/>
                <a:cs typeface="+mn-lt"/>
              </a:rPr>
              <a:t>Difficult to handle </a:t>
            </a:r>
            <a:r>
              <a:rPr lang="en-US" sz="3200" b="1" dirty="0">
                <a:ln>
                  <a:noFill/>
                </a:ln>
                <a:solidFill>
                  <a:schemeClr val="tx1"/>
                </a:solidFill>
                <a:effectLst/>
                <a:ea typeface="+mn-lt"/>
                <a:cs typeface="+mn-lt"/>
              </a:rPr>
              <a:t>large volumes of user data efficiently</a:t>
            </a:r>
            <a:endParaRPr lang="en-US" sz="3200" dirty="0">
              <a:solidFill>
                <a:schemeClr val="tx1"/>
              </a:solidFill>
            </a:endParaRPr>
          </a:p>
          <a:p>
            <a:pPr indent="-305435" defTabSz="914400">
              <a:buClr>
                <a:srgbClr val="F4EDD8"/>
              </a:buClr>
            </a:pPr>
            <a:r>
              <a:rPr lang="en-US" sz="3200" dirty="0">
                <a:ln>
                  <a:noFill/>
                </a:ln>
                <a:solidFill>
                  <a:schemeClr val="tx1"/>
                </a:solidFill>
                <a:effectLst/>
                <a:ea typeface="+mn-lt"/>
                <a:cs typeface="+mn-lt"/>
              </a:rPr>
              <a:t>Poor product discovery for new or niche items</a:t>
            </a:r>
            <a:endParaRPr lang="en-US" sz="3200" dirty="0">
              <a:solidFill>
                <a:schemeClr val="tx1"/>
              </a:solidFill>
            </a:endParaRPr>
          </a:p>
          <a:p>
            <a:pPr indent="-305435" defTabSz="914400">
              <a:buClr>
                <a:srgbClr val="F4EDD8"/>
              </a:buClr>
            </a:pPr>
            <a:r>
              <a:rPr lang="en-US" sz="3200" dirty="0">
                <a:ln>
                  <a:noFill/>
                </a:ln>
                <a:solidFill>
                  <a:schemeClr val="tx1"/>
                </a:solidFill>
                <a:effectLst/>
                <a:ea typeface="+mn-lt"/>
                <a:cs typeface="+mn-lt"/>
              </a:rPr>
              <a:t>Limited accuracy in predicting user interests</a:t>
            </a:r>
            <a:endParaRPr lang="en-US" sz="3200" dirty="0">
              <a:solidFill>
                <a:schemeClr val="tx1"/>
              </a:solidFill>
            </a:endParaRPr>
          </a:p>
          <a:p>
            <a:pPr marL="285750" marR="0" lvl="0" indent="-285750" algn="l" defTabSz="914400">
              <a:lnSpc>
                <a:spcPct val="100000"/>
              </a:lnSpc>
              <a:spcBef>
                <a:spcPct val="0"/>
              </a:spcBef>
              <a:spcAft>
                <a:spcPct val="0"/>
              </a:spcAft>
              <a:buClrTx/>
              <a:buSzTx/>
              <a:tabLst/>
            </a:pPr>
            <a:endParaRPr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079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CAAB3-5735-1AD7-EE0E-91D719C069E1}"/>
              </a:ext>
            </a:extLst>
          </p:cNvPr>
          <p:cNvSpPr>
            <a:spLocks noGrp="1"/>
          </p:cNvSpPr>
          <p:nvPr>
            <p:ph type="title"/>
          </p:nvPr>
        </p:nvSpPr>
        <p:spPr>
          <a:xfrm>
            <a:off x="412349" y="481781"/>
            <a:ext cx="10353762" cy="1257300"/>
          </a:xfrm>
        </p:spPr>
        <p:txBody>
          <a:bodyPr>
            <a:normAutofit/>
          </a:bodyPr>
          <a:lstStyle/>
          <a:p>
            <a:pPr algn="l"/>
            <a:r>
              <a:rPr lang="en-US" sz="3600" dirty="0">
                <a:latin typeface="Times New Roman" panose="02020603050405020304" pitchFamily="18" charset="0"/>
                <a:cs typeface="Times New Roman" panose="02020603050405020304" pitchFamily="18" charset="0"/>
              </a:rPr>
              <a:t>5. PROPOSED SYSTEM:</a:t>
            </a:r>
            <a:endParaRPr lang="en-US" sz="3600"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3" name="Content Placeholder 2">
            <a:extLst>
              <a:ext uri="{FF2B5EF4-FFF2-40B4-BE49-F238E27FC236}">
                <a16:creationId xmlns:a16="http://schemas.microsoft.com/office/drawing/2014/main" id="{EF823A89-63EB-794C-AF8B-40D608FA56CD}"/>
              </a:ext>
            </a:extLst>
          </p:cNvPr>
          <p:cNvSpPr>
            <a:spLocks noGrp="1"/>
          </p:cNvSpPr>
          <p:nvPr>
            <p:ph idx="1"/>
          </p:nvPr>
        </p:nvSpPr>
        <p:spPr>
          <a:xfrm>
            <a:off x="324464" y="1533832"/>
            <a:ext cx="11572567" cy="5004620"/>
          </a:xfrm>
        </p:spPr>
        <p:txBody>
          <a:bodyPr>
            <a:normAutofit/>
          </a:bodyPr>
          <a:lstStyle/>
          <a:p>
            <a:pPr indent="-305435"/>
            <a:r>
              <a:rPr lang="en-US" dirty="0"/>
              <a:t>Our proposed system leverages advanced machine learning techniques to provide an efficient, scalable, and user-centric solution for product recommendation. It employs a hybrid recommendation approach that combines collaborative filtering and content-based filtering to capture both user behavior patterns and product characteristics. The system processes user–item interaction data through structured preprocessing steps, including data cleaning and transformation, to ensure high-quality inputs for model training. </a:t>
            </a:r>
          </a:p>
          <a:p>
            <a:pPr indent="-305435"/>
            <a:r>
              <a:rPr lang="en-US" dirty="0"/>
              <a:t>By integrating multiple recommendation models and evaluating them using standard performance metrics, the system selects the best-performing model to generate accurate and personalized product suggestions. This hybrid approach effectively addresses challenges such as data sparsity and cold-start problems, enabling reliable recommendations even with limited user history and ensuring improved user experience and decision-making.</a:t>
            </a:r>
          </a:p>
          <a:p>
            <a:pPr marL="37465" indent="0">
              <a:buNone/>
            </a:pP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3637269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A7F5D76-1FEC-470A-B476-70574A89C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2C7357-CB64-E953-7BDC-36C7909015A4}"/>
              </a:ext>
            </a:extLst>
          </p:cNvPr>
          <p:cNvSpPr>
            <a:spLocks noGrp="1"/>
          </p:cNvSpPr>
          <p:nvPr>
            <p:ph type="title"/>
          </p:nvPr>
        </p:nvSpPr>
        <p:spPr>
          <a:xfrm>
            <a:off x="274698" y="231584"/>
            <a:ext cx="10353762" cy="1257300"/>
          </a:xfrm>
        </p:spPr>
        <p:txBody>
          <a:bodyPr>
            <a:normAutofit/>
          </a:bodyPr>
          <a:lstStyle/>
          <a:p>
            <a:pPr algn="l"/>
            <a:r>
              <a:rPr lang="en-US" dirty="0">
                <a:ln>
                  <a:solidFill>
                    <a:prstClr val="black">
                      <a:lumMod val="75000"/>
                      <a:lumOff val="25000"/>
                      <a:alpha val="10000"/>
                    </a:prstClr>
                  </a:solidFill>
                </a:ln>
                <a:effectLst>
                  <a:outerShdw blurRad="9525" dist="25400" dir="14640000" algn="tl" rotWithShape="0">
                    <a:prstClr val="black">
                      <a:alpha val="30000"/>
                    </a:prstClr>
                  </a:outerShdw>
                </a:effectLst>
              </a:rPr>
              <a:t>Architecture:</a:t>
            </a:r>
            <a:endParaRPr lang="en-US" dirty="0"/>
          </a:p>
        </p:txBody>
      </p:sp>
      <p:pic>
        <p:nvPicPr>
          <p:cNvPr id="4" name="Content Placeholder 3" descr="A diagram of a product selection&#10;&#10;AI-generated content may be incorrect.">
            <a:extLst>
              <a:ext uri="{FF2B5EF4-FFF2-40B4-BE49-F238E27FC236}">
                <a16:creationId xmlns:a16="http://schemas.microsoft.com/office/drawing/2014/main" id="{18B44D41-9E65-EED3-E092-1DC3C24D762C}"/>
              </a:ext>
            </a:extLst>
          </p:cNvPr>
          <p:cNvPicPr>
            <a:picLocks noChangeAspect="1"/>
          </p:cNvPicPr>
          <p:nvPr/>
        </p:nvPicPr>
        <p:blipFill>
          <a:blip r:embed="rId3"/>
          <a:stretch>
            <a:fillRect/>
          </a:stretch>
        </p:blipFill>
        <p:spPr>
          <a:xfrm>
            <a:off x="2027862" y="1411183"/>
            <a:ext cx="7875463" cy="5141764"/>
          </a:xfrm>
          <a:prstGeom prst="rect">
            <a:avLst/>
          </a:prstGeom>
        </p:spPr>
      </p:pic>
    </p:spTree>
    <p:extLst>
      <p:ext uri="{BB962C8B-B14F-4D97-AF65-F5344CB8AC3E}">
        <p14:creationId xmlns:p14="http://schemas.microsoft.com/office/powerpoint/2010/main" val="2687097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B509E-4F07-E453-0D6A-417F8271063A}"/>
              </a:ext>
            </a:extLst>
          </p:cNvPr>
          <p:cNvSpPr>
            <a:spLocks noGrp="1"/>
          </p:cNvSpPr>
          <p:nvPr>
            <p:ph type="title"/>
          </p:nvPr>
        </p:nvSpPr>
        <p:spPr>
          <a:xfrm>
            <a:off x="294969" y="288478"/>
            <a:ext cx="10469094" cy="1257300"/>
          </a:xfrm>
        </p:spPr>
        <p:txBody>
          <a:bodyPr>
            <a:normAutofit/>
          </a:bodyPr>
          <a:lstStyle/>
          <a:p>
            <a:pPr algn="l"/>
            <a:r>
              <a:rPr lang="en-IN" sz="3200" b="1" dirty="0">
                <a:latin typeface="Times New Roman" panose="02020603050405020304" pitchFamily="18" charset="0"/>
                <a:cs typeface="Times New Roman" panose="02020603050405020304" pitchFamily="18" charset="0"/>
              </a:rPr>
              <a:t>7. MODULE DESCRIPTION :</a:t>
            </a:r>
            <a:endParaRPr lang="en-US" sz="3200"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3" name="Content Placeholder 2">
            <a:extLst>
              <a:ext uri="{FF2B5EF4-FFF2-40B4-BE49-F238E27FC236}">
                <a16:creationId xmlns:a16="http://schemas.microsoft.com/office/drawing/2014/main" id="{7259ED45-951C-520B-3F57-ABAB7406253B}"/>
              </a:ext>
            </a:extLst>
          </p:cNvPr>
          <p:cNvSpPr>
            <a:spLocks noGrp="1"/>
          </p:cNvSpPr>
          <p:nvPr>
            <p:ph idx="1"/>
          </p:nvPr>
        </p:nvSpPr>
        <p:spPr>
          <a:xfrm>
            <a:off x="538119" y="1349232"/>
            <a:ext cx="11358912" cy="5064842"/>
          </a:xfrm>
        </p:spPr>
        <p:txBody>
          <a:bodyPr>
            <a:normAutofit fontScale="92500" lnSpcReduction="10000"/>
          </a:bodyPr>
          <a:lstStyle/>
          <a:p>
            <a:pPr marL="36900" indent="0">
              <a:buNone/>
            </a:pPr>
            <a:r>
              <a:rPr lang="en-US" b="1" dirty="0"/>
              <a:t>1. Presentation Layer (Web UI)</a:t>
            </a:r>
          </a:p>
          <a:p>
            <a:r>
              <a:rPr lang="en-US" dirty="0"/>
              <a:t>This module provides the user-facing interface of the system. It allows users to register, log in, search for products, view recommendations, and interact with the platform through a responsive dashboard built using HTML, CSS, and JavaScript.</a:t>
            </a:r>
          </a:p>
          <a:p>
            <a:pPr marL="36900" indent="0">
              <a:buNone/>
            </a:pPr>
            <a:r>
              <a:rPr lang="en-US" b="1" dirty="0"/>
              <a:t>2. Flask Backend (API Layer)</a:t>
            </a:r>
          </a:p>
          <a:p>
            <a:r>
              <a:rPr lang="en-US" dirty="0"/>
              <a:t>The backend module acts as a bridge between the user interface, database, and recommendation engine. It handles user authentication, manages product and recommendation APIs, processes user requests, and delivers personalized recommendations to the frontend securely and efficiently.</a:t>
            </a:r>
          </a:p>
          <a:p>
            <a:pPr marL="36900" indent="0">
              <a:buNone/>
            </a:pPr>
            <a:r>
              <a:rPr lang="en-US" b="1" dirty="0"/>
              <a:t>3. Data Layer</a:t>
            </a:r>
          </a:p>
          <a:p>
            <a:r>
              <a:rPr lang="en-US" dirty="0"/>
              <a:t>This module stores and manages all system data using a MySQL database. It maintains user details, product information, ratings, and user–item interaction history, which are essential for training models and generating accurate recommendations.</a:t>
            </a:r>
          </a:p>
          <a:p>
            <a:pPr indent="-305435"/>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4186836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7430C3-775C-6A46-C74E-BDDC97FABCAE}"/>
              </a:ext>
            </a:extLst>
          </p:cNvPr>
          <p:cNvSpPr txBox="1"/>
          <p:nvPr/>
        </p:nvSpPr>
        <p:spPr>
          <a:xfrm>
            <a:off x="847344" y="320040"/>
            <a:ext cx="10899648" cy="6370975"/>
          </a:xfrm>
          <a:prstGeom prst="rect">
            <a:avLst/>
          </a:prstGeom>
          <a:noFill/>
        </p:spPr>
        <p:txBody>
          <a:bodyPr wrap="square">
            <a:spAutoFit/>
          </a:bodyPr>
          <a:lstStyle/>
          <a:p>
            <a:pPr>
              <a:buNone/>
            </a:pPr>
            <a:r>
              <a:rPr lang="en-US" sz="2400" b="1" dirty="0"/>
              <a:t>4. </a:t>
            </a:r>
            <a:r>
              <a:rPr lang="en-US" sz="2100" b="1" dirty="0"/>
              <a:t>Recommendation Engine</a:t>
            </a:r>
          </a:p>
          <a:p>
            <a:pPr>
              <a:buNone/>
            </a:pPr>
            <a:r>
              <a:rPr lang="en-US" sz="2100" dirty="0"/>
              <a:t>The core intelligence of the system resides in this module. It implements collaborative filtering using the KNN algorithm to analyze user–item interactions and content-based filtering using TF-IDF vectorization to analyze product features. A hybrid model combines both approaches to generate more accurate and personalized recommendations.</a:t>
            </a:r>
          </a:p>
          <a:p>
            <a:pPr>
              <a:buNone/>
            </a:pPr>
            <a:br>
              <a:rPr lang="en-US" sz="2100" dirty="0"/>
            </a:br>
            <a:endParaRPr lang="en-US" sz="2100" dirty="0"/>
          </a:p>
          <a:p>
            <a:pPr>
              <a:buNone/>
            </a:pPr>
            <a:r>
              <a:rPr lang="en-US" sz="2100" b="1" dirty="0"/>
              <a:t>5. Hybrid Scoring Module</a:t>
            </a:r>
          </a:p>
          <a:p>
            <a:pPr>
              <a:buNone/>
            </a:pPr>
            <a:r>
              <a:rPr lang="en-US" sz="2100" dirty="0"/>
              <a:t>This module combines the outputs of collaborative filtering and content-based filtering using a weighted hybrid scoring function. By balancing both techniques, it reduces cold-start and data sparsity issues while improving overall recommendation accuracy.</a:t>
            </a:r>
          </a:p>
          <a:p>
            <a:pPr>
              <a:buNone/>
            </a:pPr>
            <a:br>
              <a:rPr lang="en-US" sz="2100" dirty="0"/>
            </a:br>
            <a:endParaRPr lang="en-US" sz="2100" dirty="0"/>
          </a:p>
          <a:p>
            <a:pPr>
              <a:buNone/>
            </a:pPr>
            <a:r>
              <a:rPr lang="en-US" sz="2100" b="1" dirty="0"/>
              <a:t>6. ML Pipeline (Offline Training)</a:t>
            </a:r>
          </a:p>
          <a:p>
            <a:pPr>
              <a:buNone/>
            </a:pPr>
            <a:r>
              <a:rPr lang="en-US" sz="2100" dirty="0"/>
              <a:t>This module is responsible for offline data preprocessing, model training, and evaluation. It processes historical data, trains multiple models, evaluates their performance using standard metrics, and stores the best-performing trained models for real-time recommendation generation.</a:t>
            </a:r>
          </a:p>
          <a:p>
            <a:pPr>
              <a:buNone/>
            </a:pPr>
            <a:br>
              <a:rPr lang="en-US" sz="2400" dirty="0"/>
            </a:br>
            <a:endParaRPr lang="en-US" sz="2400" dirty="0"/>
          </a:p>
        </p:txBody>
      </p:sp>
    </p:spTree>
    <p:extLst>
      <p:ext uri="{BB962C8B-B14F-4D97-AF65-F5344CB8AC3E}">
        <p14:creationId xmlns:p14="http://schemas.microsoft.com/office/powerpoint/2010/main" val="2463968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DFB746-CBFE-CDE3-4958-234EE4DD8513}"/>
              </a:ext>
            </a:extLst>
          </p:cNvPr>
          <p:cNvSpPr txBox="1"/>
          <p:nvPr/>
        </p:nvSpPr>
        <p:spPr>
          <a:xfrm>
            <a:off x="806958" y="413480"/>
            <a:ext cx="10924794" cy="1384995"/>
          </a:xfrm>
          <a:prstGeom prst="rect">
            <a:avLst/>
          </a:prstGeom>
          <a:noFill/>
        </p:spPr>
        <p:txBody>
          <a:bodyPr wrap="square">
            <a:spAutoFit/>
          </a:bodyPr>
          <a:lstStyle/>
          <a:p>
            <a:pPr>
              <a:buNone/>
            </a:pPr>
            <a:endParaRPr lang="en-US" sz="2100" dirty="0"/>
          </a:p>
          <a:p>
            <a:pPr>
              <a:buNone/>
            </a:pPr>
            <a:r>
              <a:rPr lang="en-US" sz="2100" b="1" dirty="0"/>
              <a:t>7. Trained Models Repository</a:t>
            </a:r>
          </a:p>
          <a:p>
            <a:pPr>
              <a:buNone/>
            </a:pPr>
            <a:r>
              <a:rPr lang="en-US" sz="2100" dirty="0"/>
              <a:t>This module stores the trained machine learning models used by the recommendation engine. These models are loaded during runtime to generate fast and reliable recommendations for users.</a:t>
            </a:r>
          </a:p>
        </p:txBody>
      </p:sp>
    </p:spTree>
    <p:extLst>
      <p:ext uri="{BB962C8B-B14F-4D97-AF65-F5344CB8AC3E}">
        <p14:creationId xmlns:p14="http://schemas.microsoft.com/office/powerpoint/2010/main" val="3090542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E44ACB-2561-B32B-AE0A-A339BCD3853F}"/>
              </a:ext>
            </a:extLst>
          </p:cNvPr>
          <p:cNvPicPr>
            <a:picLocks noChangeAspect="1"/>
          </p:cNvPicPr>
          <p:nvPr/>
        </p:nvPicPr>
        <p:blipFill>
          <a:blip r:embed="rId2"/>
          <a:stretch>
            <a:fillRect/>
          </a:stretch>
        </p:blipFill>
        <p:spPr>
          <a:xfrm>
            <a:off x="987552" y="585216"/>
            <a:ext cx="10131552" cy="5833872"/>
          </a:xfrm>
          <a:prstGeom prst="rect">
            <a:avLst/>
          </a:prstGeom>
        </p:spPr>
      </p:pic>
    </p:spTree>
    <p:extLst>
      <p:ext uri="{BB962C8B-B14F-4D97-AF65-F5344CB8AC3E}">
        <p14:creationId xmlns:p14="http://schemas.microsoft.com/office/powerpoint/2010/main" val="3040360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0C1A7-BFF6-1293-49DE-9232ECB48E2F}"/>
              </a:ext>
            </a:extLst>
          </p:cNvPr>
          <p:cNvSpPr>
            <a:spLocks noGrp="1"/>
          </p:cNvSpPr>
          <p:nvPr>
            <p:ph type="title"/>
          </p:nvPr>
        </p:nvSpPr>
        <p:spPr>
          <a:xfrm>
            <a:off x="391800" y="177397"/>
            <a:ext cx="10353762" cy="1257300"/>
          </a:xfrm>
        </p:spPr>
        <p:txBody>
          <a:bodyPr/>
          <a:lstStyle/>
          <a:p>
            <a:pPr algn="l"/>
            <a:r>
              <a:rPr lang="en-IN" sz="3600" b="1" dirty="0">
                <a:ln>
                  <a:solidFill>
                    <a:prstClr val="black">
                      <a:lumMod val="75000"/>
                      <a:lumOff val="25000"/>
                      <a:alpha val="10000"/>
                    </a:prstClr>
                  </a:solidFill>
                </a:ln>
                <a:effectLst>
                  <a:outerShdw blurRad="9525" dist="25400" dir="14640000" algn="tl" rotWithShape="0">
                    <a:prstClr val="black">
                      <a:alpha val="30000"/>
                    </a:prstClr>
                  </a:outerShdw>
                </a:effectLst>
                <a:latin typeface="Times New Roman"/>
                <a:cs typeface="Times New Roman"/>
              </a:rPr>
              <a:t>ALGORITHM:</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5" name="TextBox 4">
            <a:extLst>
              <a:ext uri="{FF2B5EF4-FFF2-40B4-BE49-F238E27FC236}">
                <a16:creationId xmlns:a16="http://schemas.microsoft.com/office/drawing/2014/main" id="{CD039BD1-9AA1-8519-B1DF-D441B435AAAA}"/>
              </a:ext>
            </a:extLst>
          </p:cNvPr>
          <p:cNvSpPr txBox="1"/>
          <p:nvPr/>
        </p:nvSpPr>
        <p:spPr>
          <a:xfrm>
            <a:off x="1053246" y="1000884"/>
            <a:ext cx="10486482" cy="5857116"/>
          </a:xfrm>
          <a:prstGeom prst="rect">
            <a:avLst/>
          </a:prstGeom>
          <a:noFill/>
        </p:spPr>
        <p:txBody>
          <a:bodyPr wrap="square">
            <a:spAutoFit/>
          </a:bodyPr>
          <a:lstStyle/>
          <a:p>
            <a:pPr algn="l">
              <a:lnSpc>
                <a:spcPct val="150000"/>
              </a:lnSpc>
              <a:buFont typeface="+mj-lt"/>
              <a:buAutoNum type="arabicPeriod"/>
            </a:pPr>
            <a:r>
              <a:rPr lang="en-US" sz="2100" b="1" i="0" dirty="0">
                <a:effectLst/>
                <a:latin typeface="Goudy Old Style" panose="02020502050305020303" pitchFamily="18" charset="0"/>
              </a:rPr>
              <a:t>Data Initialization:</a:t>
            </a:r>
            <a:r>
              <a:rPr lang="en-US" sz="2100" b="0" i="0" dirty="0">
                <a:effectLst/>
                <a:latin typeface="Goudy Old Style" panose="02020502050305020303" pitchFamily="18" charset="0"/>
              </a:rPr>
              <a:t> Load user-item interaction matrices and product metadata into system memory.</a:t>
            </a:r>
          </a:p>
          <a:p>
            <a:pPr algn="l">
              <a:lnSpc>
                <a:spcPct val="150000"/>
              </a:lnSpc>
              <a:buFont typeface="+mj-lt"/>
              <a:buAutoNum type="arabicPeriod"/>
            </a:pPr>
            <a:r>
              <a:rPr lang="en-US" sz="2100" b="1" i="0" dirty="0">
                <a:effectLst/>
                <a:latin typeface="Goudy Old Style" panose="02020502050305020303" pitchFamily="18" charset="0"/>
              </a:rPr>
              <a:t>Feature Extraction:</a:t>
            </a:r>
            <a:r>
              <a:rPr lang="en-US" sz="2100" b="0" i="0" dirty="0">
                <a:effectLst/>
                <a:latin typeface="Goudy Old Style" panose="02020502050305020303" pitchFamily="18" charset="0"/>
              </a:rPr>
              <a:t> Concatenate product attributes (Name, Category) to form a unified text representation for each item.</a:t>
            </a:r>
          </a:p>
          <a:p>
            <a:pPr algn="l">
              <a:lnSpc>
                <a:spcPct val="150000"/>
              </a:lnSpc>
              <a:buFont typeface="+mj-lt"/>
              <a:buAutoNum type="arabicPeriod"/>
            </a:pPr>
            <a:r>
              <a:rPr lang="en-US" sz="2100" b="1" i="0" dirty="0">
                <a:effectLst/>
                <a:latin typeface="Goudy Old Style" panose="02020502050305020303" pitchFamily="18" charset="0"/>
              </a:rPr>
              <a:t>Vectorization (TF-IDF):</a:t>
            </a:r>
            <a:r>
              <a:rPr lang="en-US" sz="2100" b="0" i="0" dirty="0">
                <a:effectLst/>
                <a:latin typeface="Goudy Old Style" panose="02020502050305020303" pitchFamily="18" charset="0"/>
              </a:rPr>
              <a:t> Convert text features into numerical vectors using Term Frequency-Inverse Document Frequency to weigh unique terms.</a:t>
            </a:r>
          </a:p>
          <a:p>
            <a:pPr algn="l">
              <a:lnSpc>
                <a:spcPct val="150000"/>
              </a:lnSpc>
              <a:buFont typeface="+mj-lt"/>
              <a:buAutoNum type="arabicPeriod"/>
            </a:pPr>
            <a:r>
              <a:rPr lang="en-US" sz="2100" b="1" i="0" dirty="0">
                <a:effectLst/>
                <a:latin typeface="Goudy Old Style" panose="02020502050305020303" pitchFamily="18" charset="0"/>
              </a:rPr>
              <a:t>Content Similarity Calculation:</a:t>
            </a:r>
            <a:r>
              <a:rPr lang="en-US" sz="2100" b="0" i="0" dirty="0">
                <a:effectLst/>
                <a:latin typeface="Goudy Old Style" panose="02020502050305020303" pitchFamily="18" charset="0"/>
              </a:rPr>
              <a:t> Compute the Cosine Similarity between the active product's vector and all other product vectors to find matches.</a:t>
            </a:r>
          </a:p>
          <a:p>
            <a:pPr algn="l">
              <a:lnSpc>
                <a:spcPct val="150000"/>
              </a:lnSpc>
              <a:buFont typeface="+mj-lt"/>
              <a:buAutoNum type="arabicPeriod"/>
            </a:pPr>
            <a:r>
              <a:rPr lang="en-US" sz="2100" b="1" i="0" dirty="0">
                <a:effectLst/>
                <a:latin typeface="Goudy Old Style" panose="02020502050305020303" pitchFamily="18" charset="0"/>
              </a:rPr>
              <a:t>User Neighborhood Identification:</a:t>
            </a:r>
            <a:r>
              <a:rPr lang="en-US" sz="2100" b="0" i="0" dirty="0">
                <a:effectLst/>
                <a:latin typeface="Goudy Old Style" panose="02020502050305020303" pitchFamily="18" charset="0"/>
              </a:rPr>
              <a:t> Identify the 'k' users with the most similar rating history to the active user using the </a:t>
            </a:r>
            <a:r>
              <a:rPr lang="en-US" sz="2100" b="0" i="0" dirty="0" err="1">
                <a:effectLst/>
                <a:latin typeface="Goudy Old Style" panose="02020502050305020303" pitchFamily="18" charset="0"/>
              </a:rPr>
              <a:t>KNNBasic</a:t>
            </a:r>
            <a:r>
              <a:rPr lang="en-US" sz="2100" b="0" i="0" dirty="0">
                <a:effectLst/>
                <a:latin typeface="Goudy Old Style" panose="02020502050305020303" pitchFamily="18" charset="0"/>
              </a:rPr>
              <a:t> algorithm.</a:t>
            </a:r>
            <a:endParaRPr lang="en-US" sz="2100" dirty="0">
              <a:latin typeface="Goudy Old Style" panose="02020502050305020303" pitchFamily="18" charset="0"/>
            </a:endParaRPr>
          </a:p>
          <a:p>
            <a:pPr algn="l">
              <a:lnSpc>
                <a:spcPct val="150000"/>
              </a:lnSpc>
              <a:buFont typeface="+mj-lt"/>
              <a:buAutoNum type="arabicPeriod"/>
            </a:pPr>
            <a:r>
              <a:rPr lang="en-US" sz="2100" b="1" dirty="0"/>
              <a:t>Rating Prediction:</a:t>
            </a:r>
            <a:r>
              <a:rPr lang="en-US" sz="2100" dirty="0"/>
              <a:t> Estimate the rating the active user would assign to candidate products based on the weighted average of neighbors' ratings.</a:t>
            </a:r>
          </a:p>
        </p:txBody>
      </p:sp>
    </p:spTree>
    <p:extLst>
      <p:ext uri="{BB962C8B-B14F-4D97-AF65-F5344CB8AC3E}">
        <p14:creationId xmlns:p14="http://schemas.microsoft.com/office/powerpoint/2010/main" val="2415813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DCA40F-9FE4-6809-8D00-D39854D170D2}"/>
              </a:ext>
            </a:extLst>
          </p:cNvPr>
          <p:cNvSpPr txBox="1"/>
          <p:nvPr/>
        </p:nvSpPr>
        <p:spPr>
          <a:xfrm>
            <a:off x="804672" y="786385"/>
            <a:ext cx="10305288" cy="3970318"/>
          </a:xfrm>
          <a:prstGeom prst="rect">
            <a:avLst/>
          </a:prstGeom>
          <a:noFill/>
        </p:spPr>
        <p:txBody>
          <a:bodyPr wrap="square">
            <a:spAutoFit/>
          </a:bodyPr>
          <a:lstStyle/>
          <a:p>
            <a:pPr algn="l"/>
            <a:endParaRPr lang="en-US" sz="2100" b="1" i="0" dirty="0">
              <a:effectLst/>
              <a:latin typeface="Segoe WPC"/>
            </a:endParaRPr>
          </a:p>
          <a:p>
            <a:r>
              <a:rPr lang="en-US" sz="2100" b="1" dirty="0"/>
              <a:t>7.Score Normalization: </a:t>
            </a:r>
            <a:r>
              <a:rPr lang="en-US" sz="2100" dirty="0"/>
              <a:t>Scale the predicted collaborative ratings (1-5 stars) to a 0-1 range to ensure mathematical compatibility with content scores.</a:t>
            </a:r>
          </a:p>
          <a:p>
            <a:pPr algn="l"/>
            <a:endParaRPr lang="en-US" sz="2100" b="1" dirty="0">
              <a:latin typeface="Segoe WPC"/>
            </a:endParaRPr>
          </a:p>
          <a:p>
            <a:pPr algn="l"/>
            <a:r>
              <a:rPr lang="en-US" sz="2100" b="1" i="0" dirty="0">
                <a:effectLst/>
                <a:latin typeface="Segoe WPC"/>
              </a:rPr>
              <a:t>8</a:t>
            </a:r>
            <a:r>
              <a:rPr lang="en-US" sz="2100" b="1" i="0" dirty="0">
                <a:effectLst/>
                <a:latin typeface="Goudy Old Style" panose="02020502050305020303" pitchFamily="18" charset="0"/>
              </a:rPr>
              <a:t>.Hybrid Fusion:</a:t>
            </a:r>
            <a:r>
              <a:rPr lang="en-US" sz="2100" b="0" i="0" dirty="0">
                <a:effectLst/>
                <a:latin typeface="Goudy Old Style" panose="02020502050305020303" pitchFamily="18" charset="0"/>
              </a:rPr>
              <a:t> Calculate the final relevance score by combining Collaborative and Content scores using a linear weighted formula (alpha).</a:t>
            </a:r>
          </a:p>
          <a:p>
            <a:pPr algn="l"/>
            <a:endParaRPr lang="en-US" sz="2100" b="0" i="0" dirty="0">
              <a:effectLst/>
              <a:latin typeface="Goudy Old Style" panose="02020502050305020303" pitchFamily="18" charset="0"/>
            </a:endParaRPr>
          </a:p>
          <a:p>
            <a:pPr algn="l"/>
            <a:r>
              <a:rPr lang="en-US" sz="2100" dirty="0">
                <a:latin typeface="Goudy Old Style" panose="02020502050305020303" pitchFamily="18" charset="0"/>
              </a:rPr>
              <a:t>9.</a:t>
            </a:r>
            <a:r>
              <a:rPr lang="en-US" sz="2100" b="1" i="0" dirty="0">
                <a:effectLst/>
                <a:latin typeface="Goudy Old Style" panose="02020502050305020303" pitchFamily="18" charset="0"/>
              </a:rPr>
              <a:t>Cold Start Handling:</a:t>
            </a:r>
            <a:r>
              <a:rPr lang="en-US" sz="2100" b="0" i="0" dirty="0">
                <a:effectLst/>
                <a:latin typeface="Goudy Old Style" panose="02020502050305020303" pitchFamily="18" charset="0"/>
              </a:rPr>
              <a:t> Automatically bypass collaborative filtering and rely solely on content similarity if sufficient user history is missing.</a:t>
            </a:r>
          </a:p>
          <a:p>
            <a:pPr algn="l"/>
            <a:endParaRPr lang="en-US" sz="2100" b="0" i="0" dirty="0">
              <a:effectLst/>
              <a:latin typeface="Goudy Old Style" panose="02020502050305020303" pitchFamily="18" charset="0"/>
            </a:endParaRPr>
          </a:p>
          <a:p>
            <a:pPr algn="l"/>
            <a:r>
              <a:rPr lang="en-US" sz="2100" b="1" i="0" dirty="0">
                <a:effectLst/>
                <a:latin typeface="Goudy Old Style" panose="02020502050305020303" pitchFamily="18" charset="0"/>
              </a:rPr>
              <a:t>10.Final Ranking:</a:t>
            </a:r>
            <a:r>
              <a:rPr lang="en-US" sz="2100" b="0" i="0" dirty="0">
                <a:effectLst/>
                <a:latin typeface="Goudy Old Style" panose="02020502050305020303" pitchFamily="18" charset="0"/>
              </a:rPr>
              <a:t> Sort all candidate products by their calculated hybrid score in descending order and return the top N recommendations.</a:t>
            </a:r>
          </a:p>
        </p:txBody>
      </p:sp>
    </p:spTree>
    <p:extLst>
      <p:ext uri="{BB962C8B-B14F-4D97-AF65-F5344CB8AC3E}">
        <p14:creationId xmlns:p14="http://schemas.microsoft.com/office/powerpoint/2010/main" val="640445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F269F-5CA5-287F-AA6F-A50FDB6802D3}"/>
              </a:ext>
            </a:extLst>
          </p:cNvPr>
          <p:cNvSpPr>
            <a:spLocks noGrp="1"/>
          </p:cNvSpPr>
          <p:nvPr>
            <p:ph type="title"/>
          </p:nvPr>
        </p:nvSpPr>
        <p:spPr/>
        <p:txBody>
          <a:bodyPr/>
          <a:lstStyle/>
          <a:p>
            <a:r>
              <a:rPr lang="en-IN">
                <a:ln>
                  <a:solidFill>
                    <a:prstClr val="black">
                      <a:lumMod val="75000"/>
                      <a:lumOff val="25000"/>
                      <a:alpha val="10000"/>
                    </a:prstClr>
                  </a:solidFill>
                </a:ln>
                <a:effectLst>
                  <a:outerShdw blurRad="9525" dist="25400" dir="14640000" algn="tl" rotWithShape="0">
                    <a:prstClr val="black">
                      <a:alpha val="30000"/>
                    </a:prstClr>
                  </a:outerShdw>
                </a:effectLst>
              </a:rPr>
              <a:t>IMPLEMENTATION &amp; EXECUTION:</a:t>
            </a:r>
            <a:endParaRPr lang="en-IN"/>
          </a:p>
        </p:txBody>
      </p:sp>
      <p:sp>
        <p:nvSpPr>
          <p:cNvPr id="3" name="Content Placeholder 2">
            <a:extLst>
              <a:ext uri="{FF2B5EF4-FFF2-40B4-BE49-F238E27FC236}">
                <a16:creationId xmlns:a16="http://schemas.microsoft.com/office/drawing/2014/main" id="{F431DFA2-827B-F5BB-9BFA-3D0BCCAE0E47}"/>
              </a:ext>
            </a:extLst>
          </p:cNvPr>
          <p:cNvSpPr>
            <a:spLocks noGrp="1"/>
          </p:cNvSpPr>
          <p:nvPr>
            <p:ph idx="1"/>
          </p:nvPr>
        </p:nvSpPr>
        <p:spPr/>
        <p:txBody>
          <a:bodyPr>
            <a:normAutofit lnSpcReduction="10000"/>
          </a:bodyPr>
          <a:lstStyle/>
          <a:p>
            <a:pPr indent="-305435"/>
            <a:r>
              <a:rPr lang="en-IN"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Frontend developed using HTML, CSS, and JavaScript</a:t>
            </a:r>
            <a:endParaRPr lang="en-IN"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IN"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Backend implemented using Flask for API handling</a:t>
            </a:r>
            <a:endParaRPr lang="en-IN" dirty="0"/>
          </a:p>
          <a:p>
            <a:pPr indent="-305435"/>
            <a:r>
              <a:rPr lang="en-IN"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MySQL used to store user, product, and interaction data</a:t>
            </a:r>
            <a:endParaRPr lang="en-IN" dirty="0"/>
          </a:p>
          <a:p>
            <a:pPr indent="-305435"/>
            <a:r>
              <a:rPr lang="en-IN"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Recommendation engine implemented using TF-IDF and KNN</a:t>
            </a:r>
            <a:endParaRPr lang="en-IN" dirty="0"/>
          </a:p>
          <a:p>
            <a:pPr indent="-305435"/>
            <a:r>
              <a:rPr lang="en-IN"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Hybrid model combines content-based and collaborative results</a:t>
            </a:r>
            <a:endParaRPr lang="en-IN" dirty="0"/>
          </a:p>
          <a:p>
            <a:pPr indent="-305435"/>
            <a:r>
              <a:rPr lang="en-IN"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ML models trained using historical data</a:t>
            </a:r>
            <a:endParaRPr lang="en-IN" dirty="0"/>
          </a:p>
          <a:p>
            <a:pPr indent="-305435"/>
            <a:r>
              <a:rPr lang="en-IN" dirty="0">
                <a:ln>
                  <a:solidFill>
                    <a:prstClr val="black">
                      <a:lumMod val="75000"/>
                      <a:lumOff val="25000"/>
                      <a:alpha val="10000"/>
                    </a:prstClr>
                  </a:solidFill>
                </a:ln>
                <a:effectLst>
                  <a:outerShdw blurRad="9525" dist="25400" dir="14640000" algn="tl" rotWithShape="0">
                    <a:prstClr val="black">
                      <a:alpha val="30000"/>
                    </a:prstClr>
                  </a:outerShdw>
                </a:effectLst>
                <a:ea typeface="+mn-lt"/>
                <a:cs typeface="+mn-lt"/>
              </a:rPr>
              <a:t>System executes recommendations in real time for users</a:t>
            </a:r>
            <a:endParaRPr lang="en-IN" dirty="0"/>
          </a:p>
          <a:p>
            <a:pPr indent="-305435"/>
            <a:endParaRPr lang="en-IN"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1525693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B56F24-4BEC-A692-98B2-A2C2E40E0588}"/>
              </a:ext>
            </a:extLst>
          </p:cNvPr>
          <p:cNvPicPr>
            <a:picLocks noChangeAspect="1"/>
          </p:cNvPicPr>
          <p:nvPr/>
        </p:nvPicPr>
        <p:blipFill>
          <a:blip r:embed="rId2"/>
          <a:stretch>
            <a:fillRect/>
          </a:stretch>
        </p:blipFill>
        <p:spPr>
          <a:xfrm>
            <a:off x="848591" y="219456"/>
            <a:ext cx="10494818" cy="6556248"/>
          </a:xfrm>
          <a:prstGeom prst="rect">
            <a:avLst/>
          </a:prstGeom>
        </p:spPr>
      </p:pic>
    </p:spTree>
    <p:extLst>
      <p:ext uri="{BB962C8B-B14F-4D97-AF65-F5344CB8AC3E}">
        <p14:creationId xmlns:p14="http://schemas.microsoft.com/office/powerpoint/2010/main" val="3792470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06C44-7194-4664-BD7F-DAD1128F00B5}"/>
              </a:ext>
            </a:extLst>
          </p:cNvPr>
          <p:cNvSpPr>
            <a:spLocks noGrp="1"/>
          </p:cNvSpPr>
          <p:nvPr>
            <p:ph type="title"/>
          </p:nvPr>
        </p:nvSpPr>
        <p:spPr>
          <a:xfrm>
            <a:off x="913795" y="438151"/>
            <a:ext cx="10353762" cy="1257300"/>
          </a:xfrm>
        </p:spPr>
        <p:txBody>
          <a:bodyPr/>
          <a:lstStyle/>
          <a:p>
            <a:r>
              <a:rPr lang="en-US" dirty="0">
                <a:latin typeface="Times New Roman" panose="02020603050405020304" pitchFamily="18" charset="0"/>
                <a:cs typeface="Times New Roman" panose="02020603050405020304" pitchFamily="18" charset="0"/>
              </a:rPr>
              <a:t>OUTPUT SCREENSHOTS</a:t>
            </a:r>
            <a:endParaRPr lang="en-IN" dirty="0"/>
          </a:p>
        </p:txBody>
      </p:sp>
      <p:pic>
        <p:nvPicPr>
          <p:cNvPr id="7" name="Content Placeholder 6">
            <a:extLst>
              <a:ext uri="{FF2B5EF4-FFF2-40B4-BE49-F238E27FC236}">
                <a16:creationId xmlns:a16="http://schemas.microsoft.com/office/drawing/2014/main" id="{DE9CF7DE-47E7-1CE7-7633-B5AD229EB91E}"/>
              </a:ext>
            </a:extLst>
          </p:cNvPr>
          <p:cNvPicPr>
            <a:picLocks noGrp="1" noChangeAspect="1"/>
          </p:cNvPicPr>
          <p:nvPr>
            <p:ph idx="1"/>
          </p:nvPr>
        </p:nvPicPr>
        <p:blipFill>
          <a:blip r:embed="rId2"/>
          <a:stretch>
            <a:fillRect/>
          </a:stretch>
        </p:blipFill>
        <p:spPr>
          <a:xfrm>
            <a:off x="1133856" y="1371600"/>
            <a:ext cx="10353762" cy="519379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3075029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F5E9FF3-1F13-6716-BDF9-E562597EE705}"/>
              </a:ext>
            </a:extLst>
          </p:cNvPr>
          <p:cNvPicPr>
            <a:picLocks noGrp="1" noChangeAspect="1"/>
          </p:cNvPicPr>
          <p:nvPr>
            <p:ph idx="1"/>
          </p:nvPr>
        </p:nvPicPr>
        <p:blipFill>
          <a:blip r:embed="rId2"/>
          <a:stretch>
            <a:fillRect/>
          </a:stretch>
        </p:blipFill>
        <p:spPr>
          <a:xfrm>
            <a:off x="1444752" y="694944"/>
            <a:ext cx="9226296" cy="5303520"/>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663923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1D12173-844B-E6E5-BC69-5A0E4B633228}"/>
              </a:ext>
            </a:extLst>
          </p:cNvPr>
          <p:cNvPicPr>
            <a:picLocks noGrp="1" noChangeAspect="1"/>
          </p:cNvPicPr>
          <p:nvPr>
            <p:ph idx="1"/>
          </p:nvPr>
        </p:nvPicPr>
        <p:blipFill>
          <a:blip r:embed="rId2"/>
          <a:stretch>
            <a:fillRect/>
          </a:stretch>
        </p:blipFill>
        <p:spPr>
          <a:xfrm>
            <a:off x="655320" y="530352"/>
            <a:ext cx="10552175" cy="5678424"/>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753920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7E3E8-436D-8507-69B1-19E585621BB4}"/>
              </a:ext>
            </a:extLst>
          </p:cNvPr>
          <p:cNvSpPr>
            <a:spLocks noGrp="1"/>
          </p:cNvSpPr>
          <p:nvPr>
            <p:ph type="title"/>
          </p:nvPr>
        </p:nvSpPr>
        <p:spPr>
          <a:xfrm>
            <a:off x="491008" y="255638"/>
            <a:ext cx="10353762" cy="1257300"/>
          </a:xfrm>
        </p:spPr>
        <p:txBody>
          <a:bodyPr>
            <a:normAutofit/>
          </a:bodyPr>
          <a:lstStyle/>
          <a:p>
            <a:pPr algn="l"/>
            <a:r>
              <a:rPr lang="en-US" sz="4000" dirty="0">
                <a:latin typeface="Times New Roman" panose="02020603050405020304" pitchFamily="18" charset="0"/>
                <a:cs typeface="Times New Roman" panose="02020603050405020304" pitchFamily="18" charset="0"/>
              </a:rPr>
              <a:t>8. FUTURE SCOPE :</a:t>
            </a:r>
            <a:endParaRPr lang="en-IN" sz="4000" dirty="0"/>
          </a:p>
        </p:txBody>
      </p:sp>
      <p:sp>
        <p:nvSpPr>
          <p:cNvPr id="7" name="Content Placeholder 6">
            <a:extLst>
              <a:ext uri="{FF2B5EF4-FFF2-40B4-BE49-F238E27FC236}">
                <a16:creationId xmlns:a16="http://schemas.microsoft.com/office/drawing/2014/main" id="{16CE3A4E-2856-7393-CFD8-8BF20D746F25}"/>
              </a:ext>
            </a:extLst>
          </p:cNvPr>
          <p:cNvSpPr>
            <a:spLocks noGrp="1"/>
          </p:cNvSpPr>
          <p:nvPr>
            <p:ph idx="1"/>
          </p:nvPr>
        </p:nvSpPr>
        <p:spPr>
          <a:xfrm>
            <a:off x="491008" y="1512938"/>
            <a:ext cx="10983237" cy="4868197"/>
          </a:xfrm>
        </p:spPr>
        <p:txBody>
          <a:bodyPr/>
          <a:lstStyle/>
          <a:p>
            <a:r>
              <a:rPr lang="en-US" dirty="0"/>
              <a:t>The system can be extended to support </a:t>
            </a:r>
            <a:r>
              <a:rPr lang="en-US" b="1" dirty="0"/>
              <a:t>cross-platform recommendations</a:t>
            </a:r>
            <a:r>
              <a:rPr lang="en-US" dirty="0"/>
              <a:t>, including mobile applications and web platforms.</a:t>
            </a:r>
          </a:p>
          <a:p>
            <a:r>
              <a:rPr lang="en-US" dirty="0"/>
              <a:t>The system can be personalized further using </a:t>
            </a:r>
            <a:r>
              <a:rPr lang="en-US" b="1" dirty="0"/>
              <a:t>user demographic data</a:t>
            </a:r>
            <a:r>
              <a:rPr lang="en-US" dirty="0"/>
              <a:t> while ensuring privacy and security.</a:t>
            </a:r>
          </a:p>
          <a:p>
            <a:r>
              <a:rPr lang="en-US" dirty="0"/>
              <a:t>Advanced </a:t>
            </a:r>
            <a:r>
              <a:rPr lang="en-US" b="1" dirty="0"/>
              <a:t>hybrid recommendation models</a:t>
            </a:r>
            <a:r>
              <a:rPr lang="en-US" dirty="0"/>
              <a:t> combining collaborative, content-based, and knowledge-based approaches can be implemented.</a:t>
            </a:r>
          </a:p>
          <a:p>
            <a:r>
              <a:rPr lang="en-US" dirty="0"/>
              <a:t>Advanced </a:t>
            </a:r>
            <a:r>
              <a:rPr lang="en-US" b="1" dirty="0"/>
              <a:t>hybrid recommendation models</a:t>
            </a:r>
            <a:r>
              <a:rPr lang="en-US" dirty="0"/>
              <a:t> combining collaborative, content-based, and knowledge-based approaches can be implemented.</a:t>
            </a:r>
          </a:p>
          <a:p>
            <a:r>
              <a:rPr lang="en-US" dirty="0"/>
              <a:t>The recommendation system can be expanded to support </a:t>
            </a:r>
            <a:r>
              <a:rPr lang="en-US" b="1" dirty="0"/>
              <a:t>voice-based and chatbot-driven recommendations</a:t>
            </a:r>
            <a:r>
              <a:rPr lang="en-US" dirty="0"/>
              <a:t>.</a:t>
            </a:r>
          </a:p>
          <a:p>
            <a:endParaRPr lang="en-IN" dirty="0"/>
          </a:p>
        </p:txBody>
      </p:sp>
    </p:spTree>
    <p:extLst>
      <p:ext uri="{BB962C8B-B14F-4D97-AF65-F5344CB8AC3E}">
        <p14:creationId xmlns:p14="http://schemas.microsoft.com/office/powerpoint/2010/main" val="1388267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B186E-A340-1624-686E-81BCBAA573FC}"/>
              </a:ext>
            </a:extLst>
          </p:cNvPr>
          <p:cNvSpPr>
            <a:spLocks noGrp="1"/>
          </p:cNvSpPr>
          <p:nvPr>
            <p:ph type="title"/>
          </p:nvPr>
        </p:nvSpPr>
        <p:spPr>
          <a:xfrm>
            <a:off x="461511" y="285135"/>
            <a:ext cx="10353762" cy="1257300"/>
          </a:xfrm>
        </p:spPr>
        <p:txBody>
          <a:bodyPr>
            <a:normAutofit/>
          </a:bodyPr>
          <a:lstStyle/>
          <a:p>
            <a:pPr algn="l"/>
            <a:r>
              <a:rPr lang="en-US" sz="3600" dirty="0"/>
              <a:t>9. CONCLUSION :</a:t>
            </a:r>
            <a:endParaRPr lang="en-IN" sz="3600" dirty="0"/>
          </a:p>
        </p:txBody>
      </p:sp>
      <p:sp>
        <p:nvSpPr>
          <p:cNvPr id="3" name="Content Placeholder 2">
            <a:extLst>
              <a:ext uri="{FF2B5EF4-FFF2-40B4-BE49-F238E27FC236}">
                <a16:creationId xmlns:a16="http://schemas.microsoft.com/office/drawing/2014/main" id="{E8085730-71CB-EC55-571B-0BE6E983B4DC}"/>
              </a:ext>
            </a:extLst>
          </p:cNvPr>
          <p:cNvSpPr>
            <a:spLocks noGrp="1"/>
          </p:cNvSpPr>
          <p:nvPr>
            <p:ph idx="1"/>
          </p:nvPr>
        </p:nvSpPr>
        <p:spPr>
          <a:xfrm>
            <a:off x="461511" y="1465006"/>
            <a:ext cx="10806046" cy="4778478"/>
          </a:xfrm>
        </p:spPr>
        <p:txBody>
          <a:bodyPr/>
          <a:lstStyle/>
          <a:p>
            <a:r>
              <a:rPr lang="en-US" dirty="0">
                <a:effectLst/>
              </a:rPr>
              <a:t>The </a:t>
            </a:r>
            <a:r>
              <a:rPr lang="en-US" b="1" dirty="0">
                <a:effectLst/>
              </a:rPr>
              <a:t>Recommendation System</a:t>
            </a:r>
            <a:r>
              <a:rPr lang="en-US" dirty="0">
                <a:effectLst/>
              </a:rPr>
              <a:t> successfully demonstrates that a </a:t>
            </a:r>
            <a:r>
              <a:rPr lang="en-US" b="1" dirty="0">
                <a:effectLst/>
              </a:rPr>
              <a:t>Hybrid Approach</a:t>
            </a:r>
            <a:r>
              <a:rPr lang="en-US" dirty="0">
                <a:effectLst/>
              </a:rPr>
              <a:t>—combining the behavioral insights of Collaborative Filtering (KNN) with the specificity of Content-Based Filtering (TF-IDF)—significantly outperforms single-method strategies in e-commerce environments. </a:t>
            </a:r>
          </a:p>
          <a:p>
            <a:r>
              <a:rPr lang="en-US" dirty="0">
                <a:effectLst/>
              </a:rPr>
              <a:t>By mitigating the "Cold Start" problem and leveraging an $\alpha$-weighted ensemble algorithm, the system achieved a highly accurate </a:t>
            </a:r>
            <a:r>
              <a:rPr lang="en-US" b="1" dirty="0">
                <a:effectLst/>
              </a:rPr>
              <a:t>RMSE of 0.611</a:t>
            </a:r>
            <a:r>
              <a:rPr lang="en-US" dirty="0">
                <a:effectLst/>
              </a:rPr>
              <a:t>, ensuring relevant suggestions for both new and returning users. </a:t>
            </a:r>
          </a:p>
          <a:p>
            <a:r>
              <a:rPr lang="en-US" dirty="0">
                <a:effectLst/>
              </a:rPr>
              <a:t>The integration of this intelligent engine into a scalable Flask web application, complete with real-time analytics and a responsive dashboard, proves that advanced machine learning can be effectively deployed to enhance user discovery, reduce choice overload, and potentially drive higher conversion rates in modern digital marketplaces.</a:t>
            </a:r>
            <a:endParaRPr lang="en-IN" dirty="0"/>
          </a:p>
        </p:txBody>
      </p:sp>
    </p:spTree>
    <p:extLst>
      <p:ext uri="{BB962C8B-B14F-4D97-AF65-F5344CB8AC3E}">
        <p14:creationId xmlns:p14="http://schemas.microsoft.com/office/powerpoint/2010/main" val="2932321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A7E6-868B-0578-4062-E45A713FD295}"/>
              </a:ext>
            </a:extLst>
          </p:cNvPr>
          <p:cNvSpPr>
            <a:spLocks noGrp="1"/>
          </p:cNvSpPr>
          <p:nvPr>
            <p:ph type="title"/>
          </p:nvPr>
        </p:nvSpPr>
        <p:spPr>
          <a:xfrm>
            <a:off x="520505" y="314632"/>
            <a:ext cx="10353762" cy="1257300"/>
          </a:xfrm>
        </p:spPr>
        <p:txBody>
          <a:bodyPr>
            <a:normAutofit/>
          </a:bodyPr>
          <a:lstStyle/>
          <a:p>
            <a:pPr algn="l"/>
            <a:r>
              <a:rPr lang="en-IN" sz="3600" b="1" dirty="0">
                <a:latin typeface="Times New Roman" panose="02020603050405020304" pitchFamily="18" charset="0"/>
                <a:cs typeface="Times New Roman" panose="02020603050405020304" pitchFamily="18" charset="0"/>
              </a:rPr>
              <a:t>REFERENCES:</a:t>
            </a:r>
            <a:endParaRPr lang="en-IN" sz="3600" dirty="0"/>
          </a:p>
        </p:txBody>
      </p:sp>
      <p:sp>
        <p:nvSpPr>
          <p:cNvPr id="3" name="Content Placeholder 2">
            <a:extLst>
              <a:ext uri="{FF2B5EF4-FFF2-40B4-BE49-F238E27FC236}">
                <a16:creationId xmlns:a16="http://schemas.microsoft.com/office/drawing/2014/main" id="{CAE993D4-19B6-DC26-CA9D-B111577F8B36}"/>
              </a:ext>
            </a:extLst>
          </p:cNvPr>
          <p:cNvSpPr>
            <a:spLocks noGrp="1"/>
          </p:cNvSpPr>
          <p:nvPr>
            <p:ph idx="1"/>
          </p:nvPr>
        </p:nvSpPr>
        <p:spPr>
          <a:xfrm>
            <a:off x="520505" y="1571932"/>
            <a:ext cx="11327366" cy="4691216"/>
          </a:xfrm>
        </p:spPr>
        <p:txBody>
          <a:bodyPr/>
          <a:lstStyle/>
          <a:p>
            <a:r>
              <a:rPr lang="en-US" dirty="0">
                <a:effectLst/>
              </a:rPr>
              <a:t>Shankar, A., Perumal, P., Subramanian, M., Ramu, N., Natesan, D., Kulkarni, V. R., &amp; Stephan, T. (2024). An intelligent recommendation system in e-commerce using ensemble learning. </a:t>
            </a:r>
            <a:r>
              <a:rPr lang="en-US" i="1" dirty="0">
                <a:effectLst/>
              </a:rPr>
              <a:t>Multimedia Tools and Applications</a:t>
            </a:r>
            <a:r>
              <a:rPr lang="en-US" dirty="0">
                <a:effectLst/>
              </a:rPr>
              <a:t>, </a:t>
            </a:r>
            <a:r>
              <a:rPr lang="en-US" i="1" dirty="0">
                <a:effectLst/>
              </a:rPr>
              <a:t>83</a:t>
            </a:r>
            <a:r>
              <a:rPr lang="en-US" dirty="0">
                <a:effectLst/>
              </a:rPr>
              <a:t>(16), 48521-48537</a:t>
            </a:r>
          </a:p>
          <a:p>
            <a:r>
              <a:rPr lang="en-US" dirty="0">
                <a:effectLst/>
              </a:rPr>
              <a:t>Gulnara, B., Guldana, S., &amp; </a:t>
            </a:r>
            <a:r>
              <a:rPr lang="en-US" dirty="0" err="1">
                <a:effectLst/>
              </a:rPr>
              <a:t>Yerassyl</a:t>
            </a:r>
            <a:r>
              <a:rPr lang="en-US" dirty="0">
                <a:effectLst/>
              </a:rPr>
              <a:t>, A. (2024). Application of Recommended Systems for E-commerce. </a:t>
            </a:r>
            <a:r>
              <a:rPr lang="en-US" i="1" dirty="0">
                <a:effectLst/>
              </a:rPr>
              <a:t>Procedia Computer Science</a:t>
            </a:r>
            <a:r>
              <a:rPr lang="en-US" dirty="0">
                <a:effectLst/>
              </a:rPr>
              <a:t>, </a:t>
            </a:r>
            <a:r>
              <a:rPr lang="en-US" i="1" dirty="0">
                <a:effectLst/>
              </a:rPr>
              <a:t>231</a:t>
            </a:r>
            <a:r>
              <a:rPr lang="en-US" dirty="0">
                <a:effectLst/>
              </a:rPr>
              <a:t>, 329-334.</a:t>
            </a:r>
            <a:endParaRPr lang="en-IN" dirty="0">
              <a:effectLst/>
            </a:endParaRPr>
          </a:p>
          <a:p>
            <a:r>
              <a:rPr lang="en-US" dirty="0">
                <a:effectLst/>
              </a:rPr>
              <a:t>Ilyes, H. (2024). </a:t>
            </a:r>
            <a:r>
              <a:rPr lang="en-US" i="1" dirty="0">
                <a:effectLst/>
              </a:rPr>
              <a:t>Product Recommendation System for E-Commerce</a:t>
            </a:r>
            <a:r>
              <a:rPr lang="en-US" dirty="0">
                <a:effectLst/>
              </a:rPr>
              <a:t> (Doctoral dissertation, UNIVERSITY OF BISKRA).</a:t>
            </a:r>
          </a:p>
          <a:p>
            <a:r>
              <a:rPr lang="en-US" dirty="0">
                <a:effectLst/>
              </a:rPr>
              <a:t>Wang, S., &amp; Wu, C. (2024). Research on personalized recommendation system of e-commerce based on big data. </a:t>
            </a:r>
            <a:r>
              <a:rPr lang="en-US" i="1" dirty="0">
                <a:effectLst/>
              </a:rPr>
              <a:t>Front. Soc. Sci. Technol</a:t>
            </a:r>
            <a:r>
              <a:rPr lang="en-US" dirty="0">
                <a:effectLst/>
              </a:rPr>
              <a:t>, </a:t>
            </a:r>
            <a:r>
              <a:rPr lang="en-US" i="1" dirty="0">
                <a:effectLst/>
              </a:rPr>
              <a:t>6</a:t>
            </a:r>
            <a:r>
              <a:rPr lang="en-US" dirty="0">
                <a:effectLst/>
              </a:rPr>
              <a:t>(5), 165-168..</a:t>
            </a:r>
            <a:endParaRPr lang="en-IN" dirty="0">
              <a:effectLst/>
            </a:endParaRPr>
          </a:p>
          <a:p>
            <a:endParaRPr lang="en-IN" dirty="0">
              <a:effectLst/>
            </a:endParaRPr>
          </a:p>
          <a:p>
            <a:endParaRPr lang="en-IN" dirty="0"/>
          </a:p>
        </p:txBody>
      </p:sp>
    </p:spTree>
    <p:extLst>
      <p:ext uri="{BB962C8B-B14F-4D97-AF65-F5344CB8AC3E}">
        <p14:creationId xmlns:p14="http://schemas.microsoft.com/office/powerpoint/2010/main" val="2764688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D78437-F242-6AD0-A047-F83D5424A8DC}"/>
              </a:ext>
            </a:extLst>
          </p:cNvPr>
          <p:cNvSpPr>
            <a:spLocks noGrp="1"/>
          </p:cNvSpPr>
          <p:nvPr>
            <p:ph idx="1"/>
          </p:nvPr>
        </p:nvSpPr>
        <p:spPr>
          <a:xfrm>
            <a:off x="919119" y="2135444"/>
            <a:ext cx="10353762" cy="3714749"/>
          </a:xfrm>
        </p:spPr>
        <p:txBody>
          <a:bodyPr>
            <a:normAutofit/>
          </a:bodyPr>
          <a:lstStyle/>
          <a:p>
            <a:pPr marL="36900" indent="0">
              <a:buNone/>
            </a:pPr>
            <a:r>
              <a:rPr lang="en-US" sz="6600" dirty="0"/>
              <a:t>             Thank You</a:t>
            </a:r>
            <a:endParaRPr lang="en-IN" sz="6600" dirty="0"/>
          </a:p>
        </p:txBody>
      </p:sp>
    </p:spTree>
    <p:extLst>
      <p:ext uri="{BB962C8B-B14F-4D97-AF65-F5344CB8AC3E}">
        <p14:creationId xmlns:p14="http://schemas.microsoft.com/office/powerpoint/2010/main" val="42408578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{C8311A4E-A218-4165-A402-FD5BFBFB3298}TFe742eee6-54b3-45e8-a03d-f3d997f9b6caf6c338c2_win32-3734725ae7e2</Template>
  <TotalTime>422</TotalTime>
  <Words>1907</Words>
  <Application>Microsoft Office PowerPoint</Application>
  <PresentationFormat>Widescreen</PresentationFormat>
  <Paragraphs>133</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Goudy Old Style</vt:lpstr>
      <vt:lpstr>Segoe WPC</vt:lpstr>
      <vt:lpstr>Times New Roman</vt:lpstr>
      <vt:lpstr>Wingdings 2</vt:lpstr>
      <vt:lpstr>SlateVTI</vt:lpstr>
      <vt:lpstr>SRI VENKATAESHWARA COLLEGE OF ENGINEERING AND TECHNOLOGY (AUTONOMOUS) R.V.S Nagar, Chittoor – 517 127. (A.P) Department of CSE(AI&amp;ML)</vt:lpstr>
      <vt:lpstr>AGENDA:</vt:lpstr>
      <vt:lpstr>1. INTRODUCTION:</vt:lpstr>
      <vt:lpstr>2. ABSTRACT :</vt:lpstr>
      <vt:lpstr>4.LITERATURE SURVEY :</vt:lpstr>
      <vt:lpstr>HARDWARE AND SOFTWARE REQUIREMENTS :</vt:lpstr>
      <vt:lpstr>4. Existing System:</vt:lpstr>
      <vt:lpstr>5. EXISTING SYSTEM DRAWBACKS:</vt:lpstr>
      <vt:lpstr>5. PROPOSED SYSTEM:</vt:lpstr>
      <vt:lpstr>Architecture:</vt:lpstr>
      <vt:lpstr>7. MODULE DESCRIPTION :</vt:lpstr>
      <vt:lpstr>PowerPoint Presentation</vt:lpstr>
      <vt:lpstr>PowerPoint Presentation</vt:lpstr>
      <vt:lpstr>PowerPoint Presentation</vt:lpstr>
      <vt:lpstr>ALGORITHM:</vt:lpstr>
      <vt:lpstr>PowerPoint Presentation</vt:lpstr>
      <vt:lpstr>IMPLEMENTATION &amp; EXECUTION:</vt:lpstr>
      <vt:lpstr>PowerPoint Presentation</vt:lpstr>
      <vt:lpstr>OUTPUT SCREENSHOTS</vt:lpstr>
      <vt:lpstr>PowerPoint Presentation</vt:lpstr>
      <vt:lpstr>PowerPoint Presentation</vt:lpstr>
      <vt:lpstr>8. FUTURE SCOPE :</vt:lpstr>
      <vt:lpstr>9. CONCLUSION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vanam.sandhya2005@outlook.com</dc:creator>
  <cp:lastModifiedBy>Rajesh 18</cp:lastModifiedBy>
  <cp:revision>7</cp:revision>
  <dcterms:created xsi:type="dcterms:W3CDTF">2026-01-29T14:31:13Z</dcterms:created>
  <dcterms:modified xsi:type="dcterms:W3CDTF">2026-01-30T04:50:59Z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